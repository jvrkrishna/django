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73" r:id="rId1"/>
  </p:sldMasterIdLst>
  <p:sldIdLst>
    <p:sldId id="259" r:id="rId2"/>
    <p:sldId id="504" r:id="rId3"/>
    <p:sldId id="261" r:id="rId4"/>
    <p:sldId id="275" r:id="rId5"/>
    <p:sldId id="276" r:id="rId6"/>
    <p:sldId id="264" r:id="rId7"/>
    <p:sldId id="277" r:id="rId8"/>
    <p:sldId id="265" r:id="rId9"/>
    <p:sldId id="287" r:id="rId10"/>
    <p:sldId id="288" r:id="rId11"/>
    <p:sldId id="289" r:id="rId12"/>
    <p:sldId id="278" r:id="rId13"/>
    <p:sldId id="266" r:id="rId14"/>
    <p:sldId id="267" r:id="rId15"/>
    <p:sldId id="268" r:id="rId16"/>
    <p:sldId id="281" r:id="rId17"/>
    <p:sldId id="269" r:id="rId18"/>
    <p:sldId id="282" r:id="rId19"/>
    <p:sldId id="283" r:id="rId20"/>
    <p:sldId id="284" r:id="rId21"/>
    <p:sldId id="274" r:id="rId22"/>
    <p:sldId id="338" r:id="rId23"/>
    <p:sldId id="478" r:id="rId24"/>
    <p:sldId id="353" r:id="rId25"/>
    <p:sldId id="356" r:id="rId26"/>
    <p:sldId id="354" r:id="rId27"/>
    <p:sldId id="307" r:id="rId28"/>
    <p:sldId id="308" r:id="rId29"/>
    <p:sldId id="309" r:id="rId30"/>
    <p:sldId id="310" r:id="rId31"/>
    <p:sldId id="311" r:id="rId32"/>
    <p:sldId id="312" r:id="rId33"/>
    <p:sldId id="313" r:id="rId34"/>
    <p:sldId id="314" r:id="rId35"/>
    <p:sldId id="315" r:id="rId36"/>
    <p:sldId id="316" r:id="rId37"/>
    <p:sldId id="317" r:id="rId38"/>
    <p:sldId id="318" r:id="rId39"/>
    <p:sldId id="319" r:id="rId40"/>
    <p:sldId id="320" r:id="rId41"/>
    <p:sldId id="321" r:id="rId42"/>
    <p:sldId id="322" r:id="rId43"/>
    <p:sldId id="323" r:id="rId44"/>
    <p:sldId id="357" r:id="rId45"/>
    <p:sldId id="326" r:id="rId46"/>
    <p:sldId id="325" r:id="rId47"/>
    <p:sldId id="299" r:id="rId48"/>
    <p:sldId id="489" r:id="rId49"/>
    <p:sldId id="490" r:id="rId50"/>
    <p:sldId id="491" r:id="rId51"/>
    <p:sldId id="492" r:id="rId52"/>
    <p:sldId id="493" r:id="rId53"/>
    <p:sldId id="494" r:id="rId54"/>
    <p:sldId id="495" r:id="rId55"/>
    <p:sldId id="496" r:id="rId56"/>
    <p:sldId id="497" r:id="rId57"/>
    <p:sldId id="498" r:id="rId58"/>
    <p:sldId id="499" r:id="rId59"/>
    <p:sldId id="500" r:id="rId60"/>
    <p:sldId id="501" r:id="rId61"/>
    <p:sldId id="502" r:id="rId62"/>
    <p:sldId id="503" r:id="rId63"/>
    <p:sldId id="336" r:id="rId64"/>
    <p:sldId id="337" r:id="rId65"/>
    <p:sldId id="290" r:id="rId66"/>
    <p:sldId id="273" r:id="rId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44" autoAdjust="0"/>
    <p:restoredTop sz="94660"/>
  </p:normalViewPr>
  <p:slideViewPr>
    <p:cSldViewPr snapToGrid="0">
      <p:cViewPr varScale="1">
        <p:scale>
          <a:sx n="73" d="100"/>
          <a:sy n="73" d="100"/>
        </p:scale>
        <p:origin x="55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9441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1292995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456393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24FB319-408F-4B57-95FC-213113A36553}" type="datetimeFigureOut">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3843962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24FB319-408F-4B57-95FC-213113A36553}" type="datetimeFigureOut">
              <a:rPr lang="en-US" smtClean="0"/>
              <a:t>8/26/2024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88936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24FB319-408F-4B57-95FC-213113A36553}" type="datetimeFigureOut">
              <a:rPr lang="en-US" smtClean="0"/>
              <a:t>8/26/2024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584933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4FB319-408F-4B57-95FC-213113A36553}" type="datetimeFigureOut">
              <a:rPr lang="en-US" smtClean="0"/>
              <a:t>8/26/2024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742556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469989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899971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Date Placeholder 2"/>
          <p:cNvSpPr>
            <a:spLocks noGrp="1"/>
          </p:cNvSpPr>
          <p:nvPr>
            <p:ph type="dt" sz="half" idx="10"/>
          </p:nvPr>
        </p:nvSpPr>
        <p:spPr/>
        <p:txBody>
          <a:bodyPr/>
          <a:lstStyle/>
          <a:p>
            <a:fld id="{624FB319-408F-4B57-95FC-213113A36553}" type="datetimeFigureOut">
              <a:rPr lang="en-US" smtClean="0"/>
              <a:t>8/26/2024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851553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0502294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266368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1299639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8013365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446738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13914877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139366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624FB319-408F-4B57-95FC-213113A36553}" type="datetimeFigureOut">
              <a:rPr lang="en-US" smtClean="0"/>
              <a:t>8/26/2024</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A0AE3085-DAF0-4F9D-B196-6B0FE55CC83D}" type="slidenum">
              <a:rPr lang="en-US" smtClean="0"/>
              <a:t>‹#›</a:t>
            </a:fld>
            <a:endParaRPr lang="en-US"/>
          </a:p>
        </p:txBody>
      </p:sp>
    </p:spTree>
    <p:extLst>
      <p:ext uri="{BB962C8B-B14F-4D97-AF65-F5344CB8AC3E}">
        <p14:creationId xmlns:p14="http://schemas.microsoft.com/office/powerpoint/2010/main" val="2534676006"/>
      </p:ext>
    </p:extLst>
  </p:cSld>
  <p:clrMap bg1="dk1" tx1="lt1" bg2="dk2" tx2="lt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99362" y="1861677"/>
            <a:ext cx="7598228" cy="1976951"/>
          </a:xfrm>
          <a:prstGeom prst="rect">
            <a:avLst/>
          </a:prstGeom>
        </p:spPr>
        <p:txBody>
          <a:bodyPr wrap="square">
            <a:spAutoFit/>
          </a:bodyPr>
          <a:lstStyle/>
          <a:p>
            <a:pPr algn="ctr">
              <a:lnSpc>
                <a:spcPct val="107000"/>
              </a:lnSpc>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Revolutionizing Cloud Data Security with Elliptic Curve Cryptography</a:t>
            </a:r>
            <a:endParaRPr lang="en-IN" dirty="0">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dirty="0">
                <a:latin typeface="Calibri" panose="020F050202020403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33505" y="194174"/>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bg1"/>
                </a:solidFill>
                <a:latin typeface="Times New Roman" panose="02020603050405020304" pitchFamily="18" charset="0"/>
                <a:cs typeface="Times New Roman" panose="02020603050405020304" pitchFamily="18" charset="0"/>
              </a:rPr>
              <a:t>                            INDEX</a:t>
            </a:r>
          </a:p>
        </p:txBody>
      </p:sp>
      <p:sp>
        <p:nvSpPr>
          <p:cNvPr id="3" name="Content Placeholder 2"/>
          <p:cNvSpPr txBox="1"/>
          <p:nvPr/>
        </p:nvSpPr>
        <p:spPr>
          <a:xfrm>
            <a:off x="1436954" y="1087395"/>
            <a:ext cx="3957667" cy="508274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Scope &amp; Motivation</a:t>
            </a:r>
          </a:p>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Advantages</a:t>
            </a:r>
          </a:p>
          <a:p>
            <a:pPr lvl="2">
              <a:lnSpc>
                <a:spcPct val="170000"/>
              </a:lnSpc>
              <a:buFont typeface="Wingdings" panose="05000000000000000000" pitchFamily="2" charset="2"/>
              <a:buChar char="v"/>
            </a:pPr>
            <a:endParaRPr lang="en-US" sz="1400" dirty="0">
              <a:solidFill>
                <a:schemeClr val="tx1"/>
              </a:solidFill>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endParaRPr lang="en-US" sz="1400" dirty="0">
              <a:solidFill>
                <a:schemeClr val="tx1"/>
              </a:solidFill>
              <a:latin typeface="Times New Roman" panose="02020603050405020304" pitchFamily="18" charset="0"/>
              <a:cs typeface="Times New Roman" panose="02020603050405020304" pitchFamily="18" charset="0"/>
            </a:endParaRPr>
          </a:p>
          <a:p>
            <a:pPr marL="768350" lvl="2" indent="0">
              <a:lnSpc>
                <a:spcPct val="170000"/>
              </a:lnSpc>
              <a:buNone/>
            </a:pPr>
            <a:endParaRPr lang="en-US" sz="14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5394622" y="1348693"/>
            <a:ext cx="5561701" cy="48217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nSpc>
                <a:spcPct val="17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Project </a:t>
            </a:r>
            <a:r>
              <a:rPr lang="en-US" dirty="0" smtClean="0">
                <a:solidFill>
                  <a:schemeClr val="tx1"/>
                </a:solidFill>
                <a:latin typeface="Times New Roman" panose="02020603050405020304" pitchFamily="18" charset="0"/>
                <a:cs typeface="Times New Roman" panose="02020603050405020304" pitchFamily="18" charset="0"/>
              </a:rPr>
              <a:t>Flow</a:t>
            </a:r>
          </a:p>
          <a:p>
            <a:pPr lvl="2">
              <a:lnSpc>
                <a:spcPct val="17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Methodology </a:t>
            </a:r>
          </a:p>
          <a:p>
            <a:pPr lvl="2">
              <a:lnSpc>
                <a:spcPct val="17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Hardware and Software Requirements</a:t>
            </a:r>
          </a:p>
          <a:p>
            <a:pPr lvl="2">
              <a:lnSpc>
                <a:spcPct val="17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Architecture</a:t>
            </a:r>
          </a:p>
          <a:p>
            <a:pPr lvl="2">
              <a:lnSpc>
                <a:spcPct val="17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UML Diagram</a:t>
            </a:r>
          </a:p>
          <a:p>
            <a:pPr lvl="2">
              <a:lnSpc>
                <a:spcPct val="17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Output Screens</a:t>
            </a:r>
          </a:p>
          <a:p>
            <a:pPr lvl="2">
              <a:lnSpc>
                <a:spcPct val="17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Conclusion</a:t>
            </a:r>
          </a:p>
          <a:p>
            <a:pPr lvl="2">
              <a:lnSpc>
                <a:spcPct val="17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Future Work</a:t>
            </a:r>
          </a:p>
          <a:p>
            <a:pPr lvl="2">
              <a:lnSpc>
                <a:spcPct val="17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References</a:t>
            </a:r>
          </a:p>
          <a:p>
            <a:pPr marL="768350" lvl="2" indent="0">
              <a:lnSpc>
                <a:spcPct val="170000"/>
              </a:lnSpc>
              <a:buNone/>
            </a:pPr>
            <a:r>
              <a:rPr lang="en-US" dirty="0">
                <a:solidFill>
                  <a:schemeClr val="tx1"/>
                </a:solidFill>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endParaRPr lang="en-US"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0502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596557" y="0"/>
            <a:ext cx="8596668"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3" name="Rectangle 2"/>
          <p:cNvSpPr/>
          <p:nvPr/>
        </p:nvSpPr>
        <p:spPr>
          <a:xfrm>
            <a:off x="802475" y="1735275"/>
            <a:ext cx="10184832" cy="4017510"/>
          </a:xfrm>
          <a:prstGeom prst="rect">
            <a:avLst/>
          </a:prstGeom>
        </p:spPr>
        <p:txBody>
          <a:bodyPr wrap="square">
            <a:spAutoFit/>
          </a:bodyPr>
          <a:lstStyle/>
          <a:p>
            <a:pPr algn="just">
              <a:lnSpc>
                <a:spcPct val="115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Encryption helps in transmitting sensitive data over an insecure channel without any danger of data being lost or being manipulated by some unauthorized entity. Different Encryption schemes have been applied for Data security in a different environment. Many cryptosystems worked during different eras and evolved accordingly with time. This paper mainly focuses on asymmetric encryption which is also known as Public key encryption scheme or Holomorphic encryption. However, due to large key size asymmetric encryption is mostly used for Key exchange rather than data Encryption. Nowadays, Data security is the main issue in large data centres and Cloud computing. This paper uses Elliptic Curve Cryptography to encrypt data in the cloud environment because the size of the key used in Elliptic Curve Cryptography is very small. Due to the small key size of Elliptic Curve, computational power is reduced and this results into least energy consumption. This paper shows that elliptic curve cryptography is fast and more efficient for data protection in a cloud computing environment and reduces the computational power and also increases the efficiency.</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n-IN" b="1" dirty="0">
                <a:latin typeface="Times New Roman" panose="02020603050405020304" pitchFamily="18" charset="0"/>
                <a:ea typeface="Times New Roman" panose="02020603050405020304" pitchFamily="18" charset="0"/>
                <a:cs typeface="Times New Roman" panose="02020603050405020304" pitchFamily="18" charset="0"/>
              </a:rPr>
              <a:t>KEYWORDS: </a:t>
            </a:r>
            <a:r>
              <a:rPr lang="en-IN" dirty="0">
                <a:latin typeface="Times New Roman" panose="02020603050405020304" pitchFamily="18" charset="0"/>
                <a:ea typeface="Calibri" panose="020F0502020204030204" pitchFamily="34" charset="0"/>
                <a:cs typeface="Times New Roman" panose="02020603050405020304" pitchFamily="18" charset="0"/>
              </a:rPr>
              <a:t>Elliptic Curve Cryptosystem (ECC), Cloud Computing, Data security.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54868" y="88968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OBJECTIVE OF PROJECT</a:t>
            </a:r>
          </a:p>
        </p:txBody>
      </p:sp>
      <p:sp>
        <p:nvSpPr>
          <p:cNvPr id="4" name="Rectangle 3"/>
          <p:cNvSpPr/>
          <p:nvPr/>
        </p:nvSpPr>
        <p:spPr>
          <a:xfrm>
            <a:off x="2547258" y="2232805"/>
            <a:ext cx="7589520" cy="3416320"/>
          </a:xfrm>
          <a:prstGeom prst="rect">
            <a:avLst/>
          </a:prstGeom>
        </p:spPr>
        <p:txBody>
          <a:bodyPr wrap="square">
            <a:spAutoFit/>
          </a:bodyPr>
          <a:lstStyle/>
          <a:p>
            <a:pPr algn="just">
              <a:lnSpc>
                <a:spcPct val="150000"/>
              </a:lnSpc>
              <a:spcBef>
                <a:spcPts val="1200"/>
              </a:spcBef>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The objective of this project is to enhance data security in cloud computing environments by implementing Elliptic Curve Cryptography (ECC). The project aims to demonstrate ECC's ability to provide robust encryption with reduced computational power and energy consumption compared to traditional methods. By optimizing the use of ECC for secure data transmission, this project seeks to contribute to the development of more efficient and secure cloud-based systems, ensuring the protection of sensitive information in increasingly complex digital landscapes.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06587" y="8320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PROBLEM STATEMENT</a:t>
            </a:r>
          </a:p>
        </p:txBody>
      </p:sp>
      <p:sp>
        <p:nvSpPr>
          <p:cNvPr id="4" name="Rectangle 3"/>
          <p:cNvSpPr/>
          <p:nvPr/>
        </p:nvSpPr>
        <p:spPr>
          <a:xfrm>
            <a:off x="1867989" y="1924322"/>
            <a:ext cx="8765177" cy="3831818"/>
          </a:xfrm>
          <a:prstGeom prst="rect">
            <a:avLst/>
          </a:prstGeom>
        </p:spPr>
        <p:txBody>
          <a:bodyPr wrap="square">
            <a:spAutoFit/>
          </a:bodyPr>
          <a:lstStyle/>
          <a:p>
            <a:pPr algn="just">
              <a:lnSpc>
                <a:spcPct val="150000"/>
              </a:lnSpc>
              <a:spcBef>
                <a:spcPts val="1200"/>
              </a:spcBef>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In an era of rapid digital transformation, the security of sensitive data transmitted over the internet has become a critical concern, particularly in cloud computing environments. Traditional encryption methods, while effective, often require significant computational power due to large key sizes, leading to inefficiencies in energy consumption and processing speed. As data </a:t>
            </a:r>
            <a:r>
              <a:rPr lang="en-IN" dirty="0" err="1">
                <a:latin typeface="Times New Roman" panose="02020603050405020304" pitchFamily="18" charset="0"/>
                <a:ea typeface="Calibri" panose="020F0502020204030204" pitchFamily="34" charset="0"/>
                <a:cs typeface="Times New Roman" panose="02020603050405020304" pitchFamily="18" charset="0"/>
              </a:rPr>
              <a:t>centers</a:t>
            </a:r>
            <a:r>
              <a:rPr lang="en-IN" dirty="0">
                <a:latin typeface="Times New Roman" panose="02020603050405020304" pitchFamily="18" charset="0"/>
                <a:ea typeface="Calibri" panose="020F0502020204030204" pitchFamily="34" charset="0"/>
                <a:cs typeface="Times New Roman" panose="02020603050405020304" pitchFamily="18" charset="0"/>
              </a:rPr>
              <a:t> continue to grow in size and complexity, there is an urgent need for a more efficient encryption method that balances strong security with minimal resource usage. This project aims to address this challenge by exploring the application of Elliptic Curve Cryptography (ECC) in cloud computing environments, focusing on its ability to provide robust data protection with reduced computational overhead and energy consumption.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39216" y="-113043"/>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SCOPE AND MOTIVATION</a:t>
            </a:r>
          </a:p>
        </p:txBody>
      </p:sp>
      <p:sp>
        <p:nvSpPr>
          <p:cNvPr id="4" name="Rectangle 3"/>
          <p:cNvSpPr/>
          <p:nvPr/>
        </p:nvSpPr>
        <p:spPr>
          <a:xfrm>
            <a:off x="431075" y="1000715"/>
            <a:ext cx="11612880" cy="5180905"/>
          </a:xfrm>
          <a:prstGeom prst="rect">
            <a:avLst/>
          </a:prstGeom>
        </p:spPr>
        <p:txBody>
          <a:bodyPr wrap="square">
            <a:spAutoFit/>
          </a:bodyPr>
          <a:lstStyle/>
          <a:p>
            <a:pPr algn="just">
              <a:lnSpc>
                <a:spcPct val="150000"/>
              </a:lnSpc>
              <a:spcAft>
                <a:spcPts val="800"/>
              </a:spcAft>
            </a:pPr>
            <a:r>
              <a:rPr lang="en-US" b="1" dirty="0" smtClean="0">
                <a:latin typeface="Times New Roman" panose="02020603050405020304" pitchFamily="18" charset="0"/>
                <a:ea typeface="Calibri" panose="020F0502020204030204" pitchFamily="34" charset="0"/>
                <a:cs typeface="Times New Roman" panose="02020603050405020304" pitchFamily="18" charset="0"/>
              </a:rPr>
              <a:t>SCOPE: </a:t>
            </a:r>
            <a:r>
              <a:rPr lang="en-US" dirty="0">
                <a:latin typeface="Times New Roman" panose="02020603050405020304" pitchFamily="18" charset="0"/>
                <a:ea typeface="Calibri" panose="020F0502020204030204" pitchFamily="34" charset="0"/>
                <a:cs typeface="Times New Roman" panose="02020603050405020304" pitchFamily="18" charset="0"/>
              </a:rPr>
              <a:t>The scope of this project encompasses the implementation and evaluation of Elliptic Curve Cryptography (ECC) for data encryption in cloud computing environments. The project will involve designing an encryption model using ECC, integrating it into a cloud-based system, and conducting performance analysis to compare it with traditional encryption methods. Key aspects include assessing the computational efficiency, energy consumption, and security robustness of ECC. The findings will be applicable to enhancing security in large-scale cloud infrastructures and can be extended to other data-sensitive applications in various industries</a:t>
            </a:r>
            <a:r>
              <a:rPr lang="en-US" dirty="0" smtClean="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50000"/>
              </a:lnSpc>
              <a:spcAft>
                <a:spcPts val="800"/>
              </a:spcAft>
            </a:pPr>
            <a:r>
              <a:rPr lang="en-US" sz="1600" b="1" dirty="0" smtClean="0">
                <a:effectLst/>
                <a:latin typeface="Times New Roman" panose="02020603050405020304" pitchFamily="18" charset="0"/>
                <a:ea typeface="Calibri" panose="020F0502020204030204" pitchFamily="34" charset="0"/>
                <a:cs typeface="Times New Roman" panose="02020603050405020304" pitchFamily="18" charset="0"/>
              </a:rPr>
              <a:t>MOTIVATION: </a:t>
            </a:r>
            <a:r>
              <a:rPr lang="en-US" dirty="0">
                <a:latin typeface="Times New Roman" panose="02020603050405020304" pitchFamily="18" charset="0"/>
                <a:cs typeface="Times New Roman" panose="02020603050405020304" pitchFamily="18" charset="0"/>
              </a:rPr>
              <a:t>Data security in today’s digital world is paramount, especially in large data centers and cloud computing. Elliptic Curve Cryptography (ECC) stands out as a powerful solution, offering robust encryption with minimal computational power and energy consumption. By embracing ECC, you are not only protecting sensitive data but also enhancing efficiency and sustainability in your operations. This forward-thinking approach ensures that your systems are secure, efficient, and future-ready. Keep pushing the boundaries of innovation, knowing that every step you take in data security contributes to a safer, more reliable digital landscape.</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58981"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
        <p:nvSpPr>
          <p:cNvPr id="2" name="Rectangle 1"/>
          <p:cNvSpPr/>
          <p:nvPr/>
        </p:nvSpPr>
        <p:spPr>
          <a:xfrm>
            <a:off x="843652" y="930878"/>
            <a:ext cx="10808416" cy="5750292"/>
          </a:xfrm>
          <a:prstGeom prst="rect">
            <a:avLst/>
          </a:prstGeom>
        </p:spPr>
        <p:txBody>
          <a:bodyPr wrap="square">
            <a:spAutoFit/>
          </a:bodyPr>
          <a:lstStyle/>
          <a:p>
            <a:pPr algn="just">
              <a:lnSpc>
                <a:spcPct val="150000"/>
              </a:lnSpc>
              <a:spcBef>
                <a:spcPts val="1200"/>
              </a:spcBef>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In today’s rapidly evolving digital landscape, the security of sensitive data has become a critical challenge, particularly in cloud computing environments where vast amounts of information are continuously stored and transmitted. As organizations increasingly rely on cloud services for data management, the need for robust and efficient encryption techniques is paramount. Traditional encryption methods, such as RSA, though highly secure, often involve large key sizes, which lead to significant computational overhead and energy consumption. These inefficiencies can become a bottleneck in large-scale cloud systems, where speed and resource optimization are crucial.</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1200"/>
              </a:spcBef>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Elliptic Curve Cryptography (ECC) has emerged as a highly effective alternative to traditional encryption methods. ECC offers the same level of security as other public-key cryptosystems but with much smaller key sizes. This reduction in key size leads to lower computational requirements and decreased energy consumption, making ECC particularly well-suited for cloud environments where efficiency and scalability are essential. ECC's ability to provide robust security with minimal resource usage makes it an attractive option for modern data security challenges.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329678" y="185584"/>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
        <p:nvSpPr>
          <p:cNvPr id="3" name="Rectangle 2"/>
          <p:cNvSpPr/>
          <p:nvPr/>
        </p:nvSpPr>
        <p:spPr>
          <a:xfrm>
            <a:off x="2207623" y="1607044"/>
            <a:ext cx="7942217" cy="3831818"/>
          </a:xfrm>
          <a:prstGeom prst="rect">
            <a:avLst/>
          </a:prstGeom>
        </p:spPr>
        <p:txBody>
          <a:bodyPr wrap="square">
            <a:spAutoFit/>
          </a:bodyPr>
          <a:lstStyle/>
          <a:p>
            <a:pPr algn="just">
              <a:lnSpc>
                <a:spcPct val="150000"/>
              </a:lnSpc>
              <a:spcBef>
                <a:spcPts val="1200"/>
              </a:spcBef>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This project is focused on implementing ECC within cloud computing environments to address the growing demand for secure, efficient, and scalable encryption solutions. By integrating ECC into cloud-based systems, the project aims to demonstrate its effectiveness in protecting sensitive data while reducing the computational and energy burdens typically associated with encryption. The outcomes of this project are expected to contribute to the development of more secure and sustainable cloud infrastructures, providing a framework that can be adapted for various industries and applications where data security is of paramount importance.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62706336"/>
              </p:ext>
            </p:extLst>
          </p:nvPr>
        </p:nvGraphicFramePr>
        <p:xfrm>
          <a:off x="490899" y="930878"/>
          <a:ext cx="11224589" cy="5852160"/>
        </p:xfrm>
        <a:graphic>
          <a:graphicData uri="http://schemas.openxmlformats.org/drawingml/2006/table">
            <a:tbl>
              <a:tblPr firstRow="1" bandRow="1">
                <a:tableStyleId>{5C22544A-7EE6-4342-B048-85BDC9FD1C3A}</a:tableStyleId>
              </a:tblPr>
              <a:tblGrid>
                <a:gridCol w="516835">
                  <a:extLst>
                    <a:ext uri="{9D8B030D-6E8A-4147-A177-3AD203B41FA5}">
                      <a16:colId xmlns:a16="http://schemas.microsoft.com/office/drawing/2014/main" val="20000"/>
                    </a:ext>
                  </a:extLst>
                </a:gridCol>
                <a:gridCol w="1024400">
                  <a:extLst>
                    <a:ext uri="{9D8B030D-6E8A-4147-A177-3AD203B41FA5}">
                      <a16:colId xmlns:a16="http://schemas.microsoft.com/office/drawing/2014/main" val="20001"/>
                    </a:ext>
                  </a:extLst>
                </a:gridCol>
                <a:gridCol w="2156121">
                  <a:extLst>
                    <a:ext uri="{9D8B030D-6E8A-4147-A177-3AD203B41FA5}">
                      <a16:colId xmlns:a16="http://schemas.microsoft.com/office/drawing/2014/main" val="20002"/>
                    </a:ext>
                  </a:extLst>
                </a:gridCol>
                <a:gridCol w="2706298">
                  <a:extLst>
                    <a:ext uri="{9D8B030D-6E8A-4147-A177-3AD203B41FA5}">
                      <a16:colId xmlns:a16="http://schemas.microsoft.com/office/drawing/2014/main" val="20003"/>
                    </a:ext>
                  </a:extLst>
                </a:gridCol>
                <a:gridCol w="4820935">
                  <a:extLst>
                    <a:ext uri="{9D8B030D-6E8A-4147-A177-3AD203B41FA5}">
                      <a16:colId xmlns:a16="http://schemas.microsoft.com/office/drawing/2014/main" val="20004"/>
                    </a:ext>
                  </a:extLst>
                </a:gridCol>
              </a:tblGrid>
              <a:tr h="370840">
                <a:tc>
                  <a:txBody>
                    <a:bodyPr/>
                    <a:lstStyle/>
                    <a:p>
                      <a:r>
                        <a:rPr lang="en-US" dirty="0">
                          <a:solidFill>
                            <a:schemeClr val="bg1"/>
                          </a:solidFill>
                        </a:rPr>
                        <a:t>S.NO</a:t>
                      </a:r>
                    </a:p>
                  </a:txBody>
                  <a:tcPr/>
                </a:tc>
                <a:tc>
                  <a:txBody>
                    <a:bodyPr/>
                    <a:lstStyle/>
                    <a:p>
                      <a:r>
                        <a:rPr lang="en-US" dirty="0">
                          <a:solidFill>
                            <a:schemeClr val="bg1"/>
                          </a:solidFill>
                        </a:rPr>
                        <a:t>YEAR</a:t>
                      </a:r>
                    </a:p>
                  </a:txBody>
                  <a:tcPr/>
                </a:tc>
                <a:tc>
                  <a:txBody>
                    <a:bodyPr/>
                    <a:lstStyle/>
                    <a:p>
                      <a:r>
                        <a:rPr lang="en-US" dirty="0">
                          <a:solidFill>
                            <a:schemeClr val="bg1"/>
                          </a:solidFill>
                        </a:rPr>
                        <a:t>AUTHORS</a:t>
                      </a:r>
                    </a:p>
                  </a:txBody>
                  <a:tcPr/>
                </a:tc>
                <a:tc>
                  <a:txBody>
                    <a:bodyPr/>
                    <a:lstStyle/>
                    <a:p>
                      <a:r>
                        <a:rPr lang="en-US" dirty="0">
                          <a:solidFill>
                            <a:schemeClr val="bg1"/>
                          </a:solidFill>
                        </a:rPr>
                        <a:t>TITLE</a:t>
                      </a:r>
                    </a:p>
                  </a:txBody>
                  <a:tcPr/>
                </a:tc>
                <a:tc>
                  <a:txBody>
                    <a:bodyPr/>
                    <a:lstStyle/>
                    <a:p>
                      <a:r>
                        <a:rPr lang="en-US" dirty="0">
                          <a:solidFill>
                            <a:schemeClr val="bg1"/>
                          </a:solidFill>
                        </a:rPr>
                        <a:t>OUT COMES</a:t>
                      </a:r>
                    </a:p>
                  </a:txBody>
                  <a:tcPr/>
                </a:tc>
                <a:extLst>
                  <a:ext uri="{0D108BD9-81ED-4DB2-BD59-A6C34878D82A}">
                    <a16:rowId xmlns:a16="http://schemas.microsoft.com/office/drawing/2014/main" val="10000"/>
                  </a:ext>
                </a:extLst>
              </a:tr>
              <a:tr h="370840">
                <a:tc>
                  <a:txBody>
                    <a:bodyPr/>
                    <a:lstStyle/>
                    <a:p>
                      <a:pPr algn="just">
                        <a:lnSpc>
                          <a:spcPct val="150000"/>
                        </a:lnSpc>
                      </a:pPr>
                      <a:r>
                        <a:rPr lang="en-US" sz="1600" dirty="0">
                          <a:solidFill>
                            <a:schemeClr val="bg1"/>
                          </a:solidFill>
                          <a:latin typeface="Times New Roman" panose="02020603050405020304" pitchFamily="18" charset="0"/>
                          <a:cs typeface="Times New Roman" panose="02020603050405020304" pitchFamily="18" charset="0"/>
                        </a:rPr>
                        <a:t>1</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 IEEE Communications Surveys &amp; Tutorials, 2021.</a:t>
                      </a:r>
                      <a:endParaRPr lang="en-US" sz="1600" b="0"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s-ES" sz="1600" b="0" kern="1200" dirty="0" err="1" smtClean="0">
                          <a:solidFill>
                            <a:schemeClr val="bg1"/>
                          </a:solidFill>
                          <a:effectLst/>
                          <a:latin typeface="Times New Roman" panose="02020603050405020304" pitchFamily="18" charset="0"/>
                          <a:ea typeface="+mn-ea"/>
                          <a:cs typeface="Times New Roman" panose="02020603050405020304" pitchFamily="18" charset="0"/>
                        </a:rPr>
                        <a:t>Rongxing</a:t>
                      </a:r>
                      <a:r>
                        <a:rPr lang="es-ES" sz="1600" b="0" kern="1200" dirty="0" smtClean="0">
                          <a:solidFill>
                            <a:schemeClr val="bg1"/>
                          </a:solidFill>
                          <a:effectLst/>
                          <a:latin typeface="Times New Roman" panose="02020603050405020304" pitchFamily="18" charset="0"/>
                          <a:ea typeface="+mn-ea"/>
                          <a:cs typeface="Times New Roman" panose="02020603050405020304" pitchFamily="18" charset="0"/>
                        </a:rPr>
                        <a:t> Lu, </a:t>
                      </a:r>
                      <a:r>
                        <a:rPr lang="es-ES" sz="1600" b="0" kern="1200" dirty="0" err="1" smtClean="0">
                          <a:solidFill>
                            <a:schemeClr val="bg1"/>
                          </a:solidFill>
                          <a:effectLst/>
                          <a:latin typeface="Times New Roman" panose="02020603050405020304" pitchFamily="18" charset="0"/>
                          <a:ea typeface="+mn-ea"/>
                          <a:cs typeface="Times New Roman" panose="02020603050405020304" pitchFamily="18" charset="0"/>
                        </a:rPr>
                        <a:t>Xingliang</a:t>
                      </a:r>
                      <a:r>
                        <a:rPr lang="es-ES" sz="1600" b="0" kern="1200" dirty="0" smtClean="0">
                          <a:solidFill>
                            <a:schemeClr val="bg1"/>
                          </a:solidFill>
                          <a:effectLst/>
                          <a:latin typeface="Times New Roman" panose="02020603050405020304" pitchFamily="18" charset="0"/>
                          <a:ea typeface="+mn-ea"/>
                          <a:cs typeface="Times New Roman" panose="02020603050405020304" pitchFamily="18" charset="0"/>
                        </a:rPr>
                        <a:t> Yuan, and </a:t>
                      </a:r>
                      <a:r>
                        <a:rPr lang="es-ES" sz="1600" b="0" kern="1200" dirty="0" err="1" smtClean="0">
                          <a:solidFill>
                            <a:schemeClr val="bg1"/>
                          </a:solidFill>
                          <a:effectLst/>
                          <a:latin typeface="Times New Roman" panose="02020603050405020304" pitchFamily="18" charset="0"/>
                          <a:ea typeface="+mn-ea"/>
                          <a:cs typeface="Times New Roman" panose="02020603050405020304" pitchFamily="18" charset="0"/>
                        </a:rPr>
                        <a:t>Xiaodong</a:t>
                      </a:r>
                      <a:r>
                        <a:rPr lang="es-ES" sz="1600" b="0" kern="1200" dirty="0" smtClean="0">
                          <a:solidFill>
                            <a:schemeClr val="bg1"/>
                          </a:solidFill>
                          <a:effectLst/>
                          <a:latin typeface="Times New Roman" panose="02020603050405020304" pitchFamily="18" charset="0"/>
                          <a:ea typeface="+mn-ea"/>
                          <a:cs typeface="Times New Roman" panose="02020603050405020304" pitchFamily="18" charset="0"/>
                        </a:rPr>
                        <a:t> </a:t>
                      </a:r>
                      <a:r>
                        <a:rPr lang="es-ES" sz="1600" b="0" kern="1200" dirty="0" err="1" smtClean="0">
                          <a:solidFill>
                            <a:schemeClr val="bg1"/>
                          </a:solidFill>
                          <a:effectLst/>
                          <a:latin typeface="Times New Roman" panose="02020603050405020304" pitchFamily="18" charset="0"/>
                          <a:ea typeface="+mn-ea"/>
                          <a:cs typeface="Times New Roman" panose="02020603050405020304" pitchFamily="18" charset="0"/>
                        </a:rPr>
                        <a:t>Lin</a:t>
                      </a:r>
                      <a:endParaRPr lang="en-US" sz="1600" b="0" kern="1200" dirty="0">
                        <a:solidFill>
                          <a:schemeClr val="bg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Homomorphic Encryption for Cloud Computing: An Overview</a:t>
                      </a:r>
                      <a:endParaRPr lang="en-US" sz="1600" b="0" kern="1200" dirty="0">
                        <a:solidFill>
                          <a:schemeClr val="bg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This paper offers a comprehensive overview of homomorphic encryption, a cryptographic technique that allows computations to be performed on encrypted data without requiring decryption. The paper discusses the various types of homomorphic encryption (such as fully homomorphic and partially homomorphic encryption) and their applications in cloud computing.</a:t>
                      </a:r>
                      <a:endParaRPr lang="en-US" sz="1600" b="0"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just">
                        <a:lnSpc>
                          <a:spcPct val="150000"/>
                        </a:lnSpc>
                      </a:pPr>
                      <a:r>
                        <a:rPr lang="en-US" sz="1600" dirty="0">
                          <a:solidFill>
                            <a:schemeClr val="bg1"/>
                          </a:solidFill>
                          <a:latin typeface="Times New Roman" panose="02020603050405020304" pitchFamily="18" charset="0"/>
                          <a:cs typeface="Times New Roman" panose="02020603050405020304" pitchFamily="18" charset="0"/>
                        </a:rPr>
                        <a:t>2</a:t>
                      </a:r>
                    </a:p>
                  </a:txBody>
                  <a:tcPr/>
                </a:tc>
                <a:tc>
                  <a:txBody>
                    <a:bodyPr/>
                    <a:lstStyle/>
                    <a:p>
                      <a:pPr algn="just">
                        <a:lnSpc>
                          <a:spcPct val="150000"/>
                        </a:lnSpc>
                      </a:pPr>
                      <a:r>
                        <a:rPr lang="en-US" sz="1600" b="0" i="0" kern="1200" dirty="0" smtClean="0">
                          <a:solidFill>
                            <a:schemeClr val="bg1"/>
                          </a:solidFill>
                          <a:effectLst/>
                          <a:latin typeface="Times New Roman" panose="02020603050405020304" pitchFamily="18" charset="0"/>
                          <a:ea typeface="+mn-ea"/>
                          <a:cs typeface="Times New Roman" panose="02020603050405020304" pitchFamily="18" charset="0"/>
                        </a:rPr>
                        <a:t>IEEE Transactions on Services Computing, 2020.</a:t>
                      </a:r>
                      <a:endParaRPr lang="en-US" sz="1600" b="0"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Jian Shen, </a:t>
                      </a:r>
                      <a:r>
                        <a:rPr lang="en-US" sz="1600" b="0" kern="1200" dirty="0" err="1" smtClean="0">
                          <a:solidFill>
                            <a:schemeClr val="bg1"/>
                          </a:solidFill>
                          <a:effectLst/>
                          <a:latin typeface="Times New Roman" panose="02020603050405020304" pitchFamily="18" charset="0"/>
                          <a:ea typeface="+mn-ea"/>
                          <a:cs typeface="Times New Roman" panose="02020603050405020304" pitchFamily="18" charset="0"/>
                        </a:rPr>
                        <a:t>Jianwei</a:t>
                      </a: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 </a:t>
                      </a:r>
                      <a:r>
                        <a:rPr lang="en-US" sz="1600" b="0" kern="1200" dirty="0" err="1" smtClean="0">
                          <a:solidFill>
                            <a:schemeClr val="bg1"/>
                          </a:solidFill>
                          <a:effectLst/>
                          <a:latin typeface="Times New Roman" panose="02020603050405020304" pitchFamily="18" charset="0"/>
                          <a:ea typeface="+mn-ea"/>
                          <a:cs typeface="Times New Roman" panose="02020603050405020304" pitchFamily="18" charset="0"/>
                        </a:rPr>
                        <a:t>Niu</a:t>
                      </a: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 </a:t>
                      </a:r>
                      <a:r>
                        <a:rPr lang="en-US" sz="1600" b="0" kern="1200" dirty="0" err="1" smtClean="0">
                          <a:solidFill>
                            <a:schemeClr val="bg1"/>
                          </a:solidFill>
                          <a:effectLst/>
                          <a:latin typeface="Times New Roman" panose="02020603050405020304" pitchFamily="18" charset="0"/>
                          <a:ea typeface="+mn-ea"/>
                          <a:cs typeface="Times New Roman" panose="02020603050405020304" pitchFamily="18" charset="0"/>
                        </a:rPr>
                        <a:t>Jiannong</a:t>
                      </a: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 Cao, and </a:t>
                      </a:r>
                      <a:r>
                        <a:rPr lang="en-US" sz="1600" b="0" kern="1200" dirty="0" err="1" smtClean="0">
                          <a:solidFill>
                            <a:schemeClr val="bg1"/>
                          </a:solidFill>
                          <a:effectLst/>
                          <a:latin typeface="Times New Roman" panose="02020603050405020304" pitchFamily="18" charset="0"/>
                          <a:ea typeface="+mn-ea"/>
                          <a:cs typeface="Times New Roman" panose="02020603050405020304" pitchFamily="18" charset="0"/>
                        </a:rPr>
                        <a:t>Yiduo</a:t>
                      </a: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 Mei, </a:t>
                      </a:r>
                      <a:endParaRPr lang="en-US" sz="1600" b="0"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A Survey on Cloud Security Issues and Techniques: Cryptographic and Non-Cryptographic Approaches</a:t>
                      </a:r>
                      <a:endParaRPr lang="en-US" sz="1600" b="0"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This survey paper explores the various security challenges in cloud computing and the solutions available to address these issues. It categorizes the solutions into cryptographic and non-cryptographic approaches. </a:t>
                      </a:r>
                      <a:endParaRPr lang="en-US" sz="1600" b="0"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970896340"/>
              </p:ext>
            </p:extLst>
          </p:nvPr>
        </p:nvGraphicFramePr>
        <p:xfrm>
          <a:off x="412712" y="702923"/>
          <a:ext cx="11330610" cy="4758690"/>
        </p:xfrm>
        <a:graphic>
          <a:graphicData uri="http://schemas.openxmlformats.org/drawingml/2006/table">
            <a:tbl>
              <a:tblPr firstRow="1" bandRow="1">
                <a:tableStyleId>{5C22544A-7EE6-4342-B048-85BDC9FD1C3A}</a:tableStyleId>
              </a:tblPr>
              <a:tblGrid>
                <a:gridCol w="589244">
                  <a:extLst>
                    <a:ext uri="{9D8B030D-6E8A-4147-A177-3AD203B41FA5}">
                      <a16:colId xmlns:a16="http://schemas.microsoft.com/office/drawing/2014/main" val="20000"/>
                    </a:ext>
                  </a:extLst>
                </a:gridCol>
                <a:gridCol w="1888912">
                  <a:extLst>
                    <a:ext uri="{9D8B030D-6E8A-4147-A177-3AD203B41FA5}">
                      <a16:colId xmlns:a16="http://schemas.microsoft.com/office/drawing/2014/main" val="20001"/>
                    </a:ext>
                  </a:extLst>
                </a:gridCol>
                <a:gridCol w="1417982">
                  <a:extLst>
                    <a:ext uri="{9D8B030D-6E8A-4147-A177-3AD203B41FA5}">
                      <a16:colId xmlns:a16="http://schemas.microsoft.com/office/drawing/2014/main" val="20002"/>
                    </a:ext>
                  </a:extLst>
                </a:gridCol>
                <a:gridCol w="2568002">
                  <a:extLst>
                    <a:ext uri="{9D8B030D-6E8A-4147-A177-3AD203B41FA5}">
                      <a16:colId xmlns:a16="http://schemas.microsoft.com/office/drawing/2014/main" val="20003"/>
                    </a:ext>
                  </a:extLst>
                </a:gridCol>
                <a:gridCol w="4866470">
                  <a:extLst>
                    <a:ext uri="{9D8B030D-6E8A-4147-A177-3AD203B41FA5}">
                      <a16:colId xmlns:a16="http://schemas.microsoft.com/office/drawing/2014/main" val="20004"/>
                    </a:ext>
                  </a:extLst>
                </a:gridCol>
              </a:tblGrid>
              <a:tr h="370840">
                <a:tc>
                  <a:txBody>
                    <a:bodyPr/>
                    <a:lstStyle/>
                    <a:p>
                      <a:r>
                        <a:rPr lang="en-US" dirty="0">
                          <a:solidFill>
                            <a:schemeClr val="bg1"/>
                          </a:solidFill>
                        </a:rPr>
                        <a:t>S.NO</a:t>
                      </a:r>
                    </a:p>
                  </a:txBody>
                  <a:tcPr/>
                </a:tc>
                <a:tc>
                  <a:txBody>
                    <a:bodyPr/>
                    <a:lstStyle/>
                    <a:p>
                      <a:r>
                        <a:rPr lang="en-US" dirty="0">
                          <a:solidFill>
                            <a:schemeClr val="bg1"/>
                          </a:solidFill>
                        </a:rPr>
                        <a:t>YEAR</a:t>
                      </a:r>
                    </a:p>
                  </a:txBody>
                  <a:tcPr/>
                </a:tc>
                <a:tc>
                  <a:txBody>
                    <a:bodyPr/>
                    <a:lstStyle/>
                    <a:p>
                      <a:r>
                        <a:rPr lang="en-US" dirty="0">
                          <a:solidFill>
                            <a:schemeClr val="bg1"/>
                          </a:solidFill>
                        </a:rPr>
                        <a:t>AUTHORS</a:t>
                      </a:r>
                    </a:p>
                  </a:txBody>
                  <a:tcPr/>
                </a:tc>
                <a:tc>
                  <a:txBody>
                    <a:bodyPr/>
                    <a:lstStyle/>
                    <a:p>
                      <a:r>
                        <a:rPr lang="en-US" dirty="0">
                          <a:solidFill>
                            <a:schemeClr val="bg1"/>
                          </a:solidFill>
                        </a:rPr>
                        <a:t>TITLE</a:t>
                      </a:r>
                    </a:p>
                  </a:txBody>
                  <a:tcPr/>
                </a:tc>
                <a:tc>
                  <a:txBody>
                    <a:bodyPr/>
                    <a:lstStyle/>
                    <a:p>
                      <a:r>
                        <a:rPr lang="en-US" dirty="0">
                          <a:solidFill>
                            <a:schemeClr val="bg1"/>
                          </a:solidFill>
                        </a:rPr>
                        <a:t>OUT COMES</a:t>
                      </a:r>
                    </a:p>
                  </a:txBody>
                  <a:tcPr/>
                </a:tc>
                <a:extLst>
                  <a:ext uri="{0D108BD9-81ED-4DB2-BD59-A6C34878D82A}">
                    <a16:rowId xmlns:a16="http://schemas.microsoft.com/office/drawing/2014/main" val="10000"/>
                  </a:ext>
                </a:extLst>
              </a:tr>
              <a:tr h="370840">
                <a:tc>
                  <a:txBody>
                    <a:bodyPr/>
                    <a:lstStyle/>
                    <a:p>
                      <a:pPr algn="just">
                        <a:lnSpc>
                          <a:spcPct val="150000"/>
                        </a:lnSpc>
                      </a:pPr>
                      <a:r>
                        <a:rPr lang="en-US" sz="1600" b="0" dirty="0">
                          <a:solidFill>
                            <a:schemeClr val="bg1"/>
                          </a:solidFill>
                          <a:latin typeface="Times New Roman" panose="02020603050405020304" pitchFamily="18" charset="0"/>
                          <a:cs typeface="Times New Roman" panose="02020603050405020304" pitchFamily="18" charset="0"/>
                        </a:rPr>
                        <a:t>3</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 IEEE Access, 2022.</a:t>
                      </a:r>
                      <a:endParaRPr lang="en-US" sz="1600" b="0" dirty="0">
                        <a:solidFill>
                          <a:schemeClr val="bg1"/>
                        </a:solidFill>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600" b="0" kern="1200" dirty="0" err="1" smtClean="0">
                          <a:solidFill>
                            <a:schemeClr val="bg1"/>
                          </a:solidFill>
                          <a:effectLst/>
                          <a:latin typeface="Times New Roman" panose="02020603050405020304" pitchFamily="18" charset="0"/>
                          <a:ea typeface="+mn-ea"/>
                          <a:cs typeface="Times New Roman" panose="02020603050405020304" pitchFamily="18" charset="0"/>
                        </a:rPr>
                        <a:t>Xiangjie</a:t>
                      </a: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 Kong, </a:t>
                      </a:r>
                      <a:r>
                        <a:rPr lang="en-US" sz="1600" b="0" kern="1200" dirty="0" err="1" smtClean="0">
                          <a:solidFill>
                            <a:schemeClr val="bg1"/>
                          </a:solidFill>
                          <a:effectLst/>
                          <a:latin typeface="Times New Roman" panose="02020603050405020304" pitchFamily="18" charset="0"/>
                          <a:ea typeface="+mn-ea"/>
                          <a:cs typeface="Times New Roman" panose="02020603050405020304" pitchFamily="18" charset="0"/>
                        </a:rPr>
                        <a:t>Jie</a:t>
                      </a: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 Wang, and </a:t>
                      </a:r>
                      <a:r>
                        <a:rPr lang="en-US" sz="1600" b="0" kern="1200" dirty="0" err="1" smtClean="0">
                          <a:solidFill>
                            <a:schemeClr val="bg1"/>
                          </a:solidFill>
                          <a:effectLst/>
                          <a:latin typeface="Times New Roman" panose="02020603050405020304" pitchFamily="18" charset="0"/>
                          <a:ea typeface="+mn-ea"/>
                          <a:cs typeface="Times New Roman" panose="02020603050405020304" pitchFamily="18" charset="0"/>
                        </a:rPr>
                        <a:t>Qiang</a:t>
                      </a: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 Ni,</a:t>
                      </a:r>
                      <a:endParaRPr lang="en-US" sz="1600" b="0" kern="1200" dirty="0">
                        <a:solidFill>
                          <a:schemeClr val="bg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Efficient Data Security and Privacy-Preserving Scheme in Cloud Computing.</a:t>
                      </a:r>
                      <a:endParaRPr lang="en-US" sz="1600" b="0" kern="1200" dirty="0">
                        <a:solidFill>
                          <a:schemeClr val="bg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This paper proposes a new data security and privacy-preserving scheme tailored for cloud computing environments. The proposed scheme is designed to be both efficient and effective in protecting data from unauthorized access while ensuring privacy. </a:t>
                      </a:r>
                      <a:endParaRPr lang="en-US" sz="1600" b="0"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just">
                        <a:lnSpc>
                          <a:spcPct val="150000"/>
                        </a:lnSpc>
                      </a:pPr>
                      <a:r>
                        <a:rPr lang="en-US" sz="1600" b="0" dirty="0">
                          <a:solidFill>
                            <a:schemeClr val="bg1"/>
                          </a:solidFill>
                          <a:latin typeface="Times New Roman" panose="02020603050405020304" pitchFamily="18" charset="0"/>
                          <a:cs typeface="Times New Roman" panose="02020603050405020304" pitchFamily="18" charset="0"/>
                        </a:rPr>
                        <a:t>4</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b="0" i="0" kern="1200" dirty="0" smtClean="0">
                          <a:solidFill>
                            <a:schemeClr val="bg1"/>
                          </a:solidFill>
                          <a:effectLst/>
                          <a:latin typeface="Times New Roman" panose="02020603050405020304" pitchFamily="18" charset="0"/>
                          <a:ea typeface="+mn-ea"/>
                          <a:cs typeface="Times New Roman" panose="02020603050405020304" pitchFamily="18" charset="0"/>
                        </a:rPr>
                        <a:t>IEEE Transactions on Cloud Computing, 2021.</a:t>
                      </a:r>
                      <a:endParaRPr lang="en-US" sz="1600" b="0" dirty="0">
                        <a:solidFill>
                          <a:schemeClr val="bg1"/>
                        </a:solidFill>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M. S. Ali, Kim-</a:t>
                      </a:r>
                      <a:r>
                        <a:rPr lang="en-US" sz="1600" b="0" kern="1200" dirty="0" err="1" smtClean="0">
                          <a:solidFill>
                            <a:schemeClr val="bg1"/>
                          </a:solidFill>
                          <a:effectLst/>
                          <a:latin typeface="Times New Roman" panose="02020603050405020304" pitchFamily="18" charset="0"/>
                          <a:ea typeface="+mn-ea"/>
                          <a:cs typeface="Times New Roman" panose="02020603050405020304" pitchFamily="18" charset="0"/>
                        </a:rPr>
                        <a:t>Kwang</a:t>
                      </a: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 Raymond Choo, and Syed Hassan Ahmed</a:t>
                      </a:r>
                      <a:endParaRPr lang="en-US" sz="1600" b="0" kern="1200" dirty="0">
                        <a:solidFill>
                          <a:schemeClr val="bg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600" b="0" kern="1200" dirty="0" err="1" smtClean="0">
                          <a:solidFill>
                            <a:schemeClr val="bg1"/>
                          </a:solidFill>
                          <a:effectLst/>
                          <a:latin typeface="Times New Roman" panose="02020603050405020304" pitchFamily="18" charset="0"/>
                          <a:ea typeface="+mn-ea"/>
                          <a:cs typeface="Times New Roman" panose="02020603050405020304" pitchFamily="18" charset="0"/>
                        </a:rPr>
                        <a:t>Blockchain</a:t>
                      </a: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-Based Secure Data Storage and Access Control for Cloud Applications.</a:t>
                      </a:r>
                      <a:endParaRPr lang="en-US" sz="1600" b="0" kern="1200" dirty="0">
                        <a:solidFill>
                          <a:schemeClr val="bg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This paper explores the use of </a:t>
                      </a:r>
                      <a:r>
                        <a:rPr lang="en-US" sz="1600" b="0" kern="1200" dirty="0" err="1" smtClean="0">
                          <a:solidFill>
                            <a:schemeClr val="bg1"/>
                          </a:solidFill>
                          <a:effectLst/>
                          <a:latin typeface="Times New Roman" panose="02020603050405020304" pitchFamily="18" charset="0"/>
                          <a:ea typeface="+mn-ea"/>
                          <a:cs typeface="Times New Roman" panose="02020603050405020304" pitchFamily="18" charset="0"/>
                        </a:rPr>
                        <a:t>blockchain</a:t>
                      </a: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 technology to enhance data security and access control in cloud computing. The authors propose a </a:t>
                      </a:r>
                      <a:r>
                        <a:rPr lang="en-US" sz="1600" b="0" kern="1200" dirty="0" err="1" smtClean="0">
                          <a:solidFill>
                            <a:schemeClr val="bg1"/>
                          </a:solidFill>
                          <a:effectLst/>
                          <a:latin typeface="Times New Roman" panose="02020603050405020304" pitchFamily="18" charset="0"/>
                          <a:ea typeface="+mn-ea"/>
                          <a:cs typeface="Times New Roman" panose="02020603050405020304" pitchFamily="18" charset="0"/>
                        </a:rPr>
                        <a:t>blockchain</a:t>
                      </a: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-based framework that ensures secure data storage and provides a transparent, tamper-proof record of access control activities. </a:t>
                      </a:r>
                      <a:endParaRPr lang="en-US" sz="1600" b="0" kern="1200" dirty="0">
                        <a:solidFill>
                          <a:schemeClr val="bg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428767" y="-231543"/>
            <a:ext cx="8596668" cy="463086"/>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bg1"/>
                </a:solidFill>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1390736"/>
              </p:ext>
            </p:extLst>
          </p:nvPr>
        </p:nvGraphicFramePr>
        <p:xfrm>
          <a:off x="955590" y="1485787"/>
          <a:ext cx="10746079" cy="2782571"/>
        </p:xfrm>
        <a:graphic>
          <a:graphicData uri="http://schemas.openxmlformats.org/drawingml/2006/table">
            <a:tbl>
              <a:tblPr firstRow="1" bandRow="1">
                <a:tableStyleId>{5C22544A-7EE6-4342-B048-85BDC9FD1C3A}</a:tableStyleId>
              </a:tblPr>
              <a:tblGrid>
                <a:gridCol w="676508">
                  <a:extLst>
                    <a:ext uri="{9D8B030D-6E8A-4147-A177-3AD203B41FA5}">
                      <a16:colId xmlns:a16="http://schemas.microsoft.com/office/drawing/2014/main" val="20000"/>
                    </a:ext>
                  </a:extLst>
                </a:gridCol>
                <a:gridCol w="1188226">
                  <a:extLst>
                    <a:ext uri="{9D8B030D-6E8A-4147-A177-3AD203B41FA5}">
                      <a16:colId xmlns:a16="http://schemas.microsoft.com/office/drawing/2014/main" val="20001"/>
                    </a:ext>
                  </a:extLst>
                </a:gridCol>
                <a:gridCol w="1649792">
                  <a:extLst>
                    <a:ext uri="{9D8B030D-6E8A-4147-A177-3AD203B41FA5}">
                      <a16:colId xmlns:a16="http://schemas.microsoft.com/office/drawing/2014/main" val="20002"/>
                    </a:ext>
                  </a:extLst>
                </a:gridCol>
                <a:gridCol w="1945596">
                  <a:extLst>
                    <a:ext uri="{9D8B030D-6E8A-4147-A177-3AD203B41FA5}">
                      <a16:colId xmlns:a16="http://schemas.microsoft.com/office/drawing/2014/main" val="20003"/>
                    </a:ext>
                  </a:extLst>
                </a:gridCol>
                <a:gridCol w="5285957">
                  <a:extLst>
                    <a:ext uri="{9D8B030D-6E8A-4147-A177-3AD203B41FA5}">
                      <a16:colId xmlns:a16="http://schemas.microsoft.com/office/drawing/2014/main" val="20004"/>
                    </a:ext>
                  </a:extLst>
                </a:gridCol>
              </a:tblGrid>
              <a:tr h="554846">
                <a:tc>
                  <a:txBody>
                    <a:bodyPr/>
                    <a:lstStyle/>
                    <a:p>
                      <a:r>
                        <a:rPr lang="en-US" dirty="0">
                          <a:solidFill>
                            <a:schemeClr val="bg1"/>
                          </a:solidFill>
                        </a:rPr>
                        <a:t>S.NO</a:t>
                      </a:r>
                    </a:p>
                  </a:txBody>
                  <a:tcPr/>
                </a:tc>
                <a:tc>
                  <a:txBody>
                    <a:bodyPr/>
                    <a:lstStyle/>
                    <a:p>
                      <a:r>
                        <a:rPr lang="en-US" dirty="0">
                          <a:solidFill>
                            <a:schemeClr val="bg1"/>
                          </a:solidFill>
                        </a:rPr>
                        <a:t>YEAR</a:t>
                      </a:r>
                    </a:p>
                  </a:txBody>
                  <a:tcPr/>
                </a:tc>
                <a:tc>
                  <a:txBody>
                    <a:bodyPr/>
                    <a:lstStyle/>
                    <a:p>
                      <a:r>
                        <a:rPr lang="en-US" dirty="0">
                          <a:solidFill>
                            <a:schemeClr val="bg1"/>
                          </a:solidFill>
                        </a:rPr>
                        <a:t>AUTHORS</a:t>
                      </a:r>
                    </a:p>
                  </a:txBody>
                  <a:tcPr/>
                </a:tc>
                <a:tc>
                  <a:txBody>
                    <a:bodyPr/>
                    <a:lstStyle/>
                    <a:p>
                      <a:r>
                        <a:rPr lang="en-US" dirty="0">
                          <a:solidFill>
                            <a:schemeClr val="bg1"/>
                          </a:solidFill>
                        </a:rPr>
                        <a:t>TITLE</a:t>
                      </a:r>
                    </a:p>
                  </a:txBody>
                  <a:tcPr/>
                </a:tc>
                <a:tc>
                  <a:txBody>
                    <a:bodyPr/>
                    <a:lstStyle/>
                    <a:p>
                      <a:r>
                        <a:rPr lang="en-US" dirty="0">
                          <a:solidFill>
                            <a:schemeClr val="bg1"/>
                          </a:solidFill>
                        </a:rPr>
                        <a:t>OUT COMES</a:t>
                      </a:r>
                    </a:p>
                  </a:txBody>
                  <a:tcPr/>
                </a:tc>
                <a:extLst>
                  <a:ext uri="{0D108BD9-81ED-4DB2-BD59-A6C34878D82A}">
                    <a16:rowId xmlns:a16="http://schemas.microsoft.com/office/drawing/2014/main" val="10000"/>
                  </a:ext>
                </a:extLst>
              </a:tr>
              <a:tr h="2142491">
                <a:tc>
                  <a:txBody>
                    <a:bodyPr/>
                    <a:lstStyle/>
                    <a:p>
                      <a:pPr algn="just">
                        <a:lnSpc>
                          <a:spcPct val="100000"/>
                        </a:lnSpc>
                      </a:pPr>
                      <a:r>
                        <a:rPr lang="en-US" sz="1600" b="0" dirty="0">
                          <a:solidFill>
                            <a:schemeClr val="bg1"/>
                          </a:solidFill>
                          <a:latin typeface="Times New Roman" panose="02020603050405020304" pitchFamily="18" charset="0"/>
                          <a:cs typeface="Times New Roman" panose="02020603050405020304" pitchFamily="18" charset="0"/>
                        </a:rPr>
                        <a:t>5</a:t>
                      </a:r>
                    </a:p>
                  </a:txBody>
                  <a:tcPr/>
                </a:tc>
                <a:tc>
                  <a:txBody>
                    <a:bodyPr/>
                    <a:lstStyle/>
                    <a:p>
                      <a:pPr marL="0" marR="0" indent="0" algn="just" defTabSz="457200" rtl="0" eaLnBrk="1" fontAlgn="auto" latinLnBrk="0" hangingPunct="1">
                        <a:lnSpc>
                          <a:spcPct val="100000"/>
                        </a:lnSpc>
                        <a:spcBef>
                          <a:spcPts val="0"/>
                        </a:spcBef>
                        <a:spcAft>
                          <a:spcPts val="0"/>
                        </a:spcAft>
                        <a:buClrTx/>
                        <a:buSzTx/>
                        <a:buFontTx/>
                        <a:buNone/>
                        <a:defRPr/>
                      </a:pP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IEEE Internet of Things Journal, 2021.</a:t>
                      </a:r>
                      <a:endParaRPr lang="en-US" sz="1600" b="0" dirty="0">
                        <a:solidFill>
                          <a:schemeClr val="bg1"/>
                        </a:solidFill>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Vishnu S. </a:t>
                      </a:r>
                      <a:r>
                        <a:rPr lang="en-US" sz="1600" b="0" kern="1200" dirty="0" err="1" smtClean="0">
                          <a:solidFill>
                            <a:schemeClr val="bg1"/>
                          </a:solidFill>
                          <a:effectLst/>
                          <a:latin typeface="Times New Roman" panose="02020603050405020304" pitchFamily="18" charset="0"/>
                          <a:ea typeface="+mn-ea"/>
                          <a:cs typeface="Times New Roman" panose="02020603050405020304" pitchFamily="18" charset="0"/>
                        </a:rPr>
                        <a:t>Pendyala</a:t>
                      </a: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 </a:t>
                      </a:r>
                      <a:r>
                        <a:rPr lang="en-US" sz="1600" b="0" kern="1200" dirty="0" err="1" smtClean="0">
                          <a:solidFill>
                            <a:schemeClr val="bg1"/>
                          </a:solidFill>
                          <a:effectLst/>
                          <a:latin typeface="Times New Roman" panose="02020603050405020304" pitchFamily="18" charset="0"/>
                          <a:ea typeface="+mn-ea"/>
                          <a:cs typeface="Times New Roman" panose="02020603050405020304" pitchFamily="18" charset="0"/>
                        </a:rPr>
                        <a:t>Shaik</a:t>
                      </a: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 Mohammad </a:t>
                      </a:r>
                      <a:r>
                        <a:rPr lang="en-US" sz="1600" b="0" kern="1200" dirty="0" err="1" smtClean="0">
                          <a:solidFill>
                            <a:schemeClr val="bg1"/>
                          </a:solidFill>
                          <a:effectLst/>
                          <a:latin typeface="Times New Roman" panose="02020603050405020304" pitchFamily="18" charset="0"/>
                          <a:ea typeface="+mn-ea"/>
                          <a:cs typeface="Times New Roman" panose="02020603050405020304" pitchFamily="18" charset="0"/>
                        </a:rPr>
                        <a:t>Arafath</a:t>
                      </a: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 and </a:t>
                      </a:r>
                      <a:r>
                        <a:rPr lang="en-US" sz="1600" b="0" kern="1200" dirty="0" err="1" smtClean="0">
                          <a:solidFill>
                            <a:schemeClr val="bg1"/>
                          </a:solidFill>
                          <a:effectLst/>
                          <a:latin typeface="Times New Roman" panose="02020603050405020304" pitchFamily="18" charset="0"/>
                          <a:ea typeface="+mn-ea"/>
                          <a:cs typeface="Times New Roman" panose="02020603050405020304" pitchFamily="18" charset="0"/>
                        </a:rPr>
                        <a:t>Sudhir</a:t>
                      </a: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 R. Kulkarni, </a:t>
                      </a:r>
                      <a:endParaRPr lang="en-US" sz="1600" b="0" kern="1200" dirty="0">
                        <a:solidFill>
                          <a:schemeClr val="bg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00000"/>
                        </a:lnSpc>
                      </a:pP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Elliptic Curve Cryptography for Real-Time Data Encryption in </a:t>
                      </a:r>
                      <a:r>
                        <a:rPr lang="en-US" sz="1600" b="0" kern="1200" dirty="0" err="1" smtClean="0">
                          <a:solidFill>
                            <a:schemeClr val="bg1"/>
                          </a:solidFill>
                          <a:effectLst/>
                          <a:latin typeface="Times New Roman" panose="02020603050405020304" pitchFamily="18" charset="0"/>
                          <a:ea typeface="+mn-ea"/>
                          <a:cs typeface="Times New Roman" panose="02020603050405020304" pitchFamily="18" charset="0"/>
                        </a:rPr>
                        <a:t>IoT</a:t>
                      </a:r>
                      <a:r>
                        <a:rPr lang="en-US" sz="1600" b="0" kern="1200" dirty="0" smtClean="0">
                          <a:solidFill>
                            <a:schemeClr val="bg1"/>
                          </a:solidFill>
                          <a:effectLst/>
                          <a:latin typeface="Times New Roman" panose="02020603050405020304" pitchFamily="18" charset="0"/>
                          <a:ea typeface="+mn-ea"/>
                          <a:cs typeface="Times New Roman" panose="02020603050405020304" pitchFamily="18" charset="0"/>
                        </a:rPr>
                        <a:t> and Cloud Computing</a:t>
                      </a:r>
                      <a:endParaRPr lang="en-US" sz="1600" b="0" kern="1200" dirty="0">
                        <a:solidFill>
                          <a:schemeClr val="bg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800" b="0" kern="1200" dirty="0" smtClean="0">
                          <a:solidFill>
                            <a:schemeClr val="bg1"/>
                          </a:solidFill>
                          <a:effectLst/>
                          <a:latin typeface="Times New Roman" panose="02020603050405020304" pitchFamily="18" charset="0"/>
                          <a:ea typeface="+mn-ea"/>
                          <a:cs typeface="Times New Roman" panose="02020603050405020304" pitchFamily="18" charset="0"/>
                        </a:rPr>
                        <a:t>This paper examines the application of Elliptic Curve Cryptography (ECC) for real-time data encryption in the context of </a:t>
                      </a:r>
                      <a:r>
                        <a:rPr lang="en-US" sz="1800" b="0" kern="1200" dirty="0" err="1" smtClean="0">
                          <a:solidFill>
                            <a:schemeClr val="bg1"/>
                          </a:solidFill>
                          <a:effectLst/>
                          <a:latin typeface="Times New Roman" panose="02020603050405020304" pitchFamily="18" charset="0"/>
                          <a:ea typeface="+mn-ea"/>
                          <a:cs typeface="Times New Roman" panose="02020603050405020304" pitchFamily="18" charset="0"/>
                        </a:rPr>
                        <a:t>IoT</a:t>
                      </a:r>
                      <a:r>
                        <a:rPr lang="en-US" sz="1800" b="0" kern="1200" dirty="0" smtClean="0">
                          <a:solidFill>
                            <a:schemeClr val="bg1"/>
                          </a:solidFill>
                          <a:effectLst/>
                          <a:latin typeface="Times New Roman" panose="02020603050405020304" pitchFamily="18" charset="0"/>
                          <a:ea typeface="+mn-ea"/>
                          <a:cs typeface="Times New Roman" panose="02020603050405020304" pitchFamily="18" charset="0"/>
                        </a:rPr>
                        <a:t> and cloud computing. ECC is highlighted for its ability to provide strong encryption with smaller key sizes, which reduces computational overhead and energy consumption—key factors in </a:t>
                      </a:r>
                      <a:r>
                        <a:rPr lang="en-US" sz="1800" b="0" kern="1200" dirty="0" err="1" smtClean="0">
                          <a:solidFill>
                            <a:schemeClr val="bg1"/>
                          </a:solidFill>
                          <a:effectLst/>
                          <a:latin typeface="Times New Roman" panose="02020603050405020304" pitchFamily="18" charset="0"/>
                          <a:ea typeface="+mn-ea"/>
                          <a:cs typeface="Times New Roman" panose="02020603050405020304" pitchFamily="18" charset="0"/>
                        </a:rPr>
                        <a:t>IoT</a:t>
                      </a:r>
                      <a:r>
                        <a:rPr lang="en-US" sz="1800" b="0" kern="1200" dirty="0" smtClean="0">
                          <a:solidFill>
                            <a:schemeClr val="bg1"/>
                          </a:solidFill>
                          <a:effectLst/>
                          <a:latin typeface="Times New Roman" panose="02020603050405020304" pitchFamily="18" charset="0"/>
                          <a:ea typeface="+mn-ea"/>
                          <a:cs typeface="Times New Roman" panose="02020603050405020304" pitchFamily="18" charset="0"/>
                        </a:rPr>
                        <a:t> and cloud environments. </a:t>
                      </a:r>
                      <a:endParaRPr lang="en-IN" sz="1800" b="0" kern="1200" dirty="0">
                        <a:solidFill>
                          <a:schemeClr val="bg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bl>
          </a:graphicData>
        </a:graphic>
      </p:graphicFrame>
      <p:sp>
        <p:nvSpPr>
          <p:cNvPr id="3" name="Title 1"/>
          <p:cNvSpPr txBox="1"/>
          <p:nvPr/>
        </p:nvSpPr>
        <p:spPr>
          <a:xfrm>
            <a:off x="2431341" y="454870"/>
            <a:ext cx="732931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277073" y="112858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EXISTING SYSTEM</a:t>
            </a:r>
          </a:p>
        </p:txBody>
      </p:sp>
      <p:sp>
        <p:nvSpPr>
          <p:cNvPr id="3" name="Rectangle 2"/>
          <p:cNvSpPr/>
          <p:nvPr/>
        </p:nvSpPr>
        <p:spPr>
          <a:xfrm>
            <a:off x="992777" y="2038509"/>
            <a:ext cx="9953898" cy="3371885"/>
          </a:xfrm>
          <a:prstGeom prst="rect">
            <a:avLst/>
          </a:prstGeom>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The existing system for data security in cloud computing primarily relies on traditional encryption techniques like RSA and AES. While these methods provide robust security, they often require large key sizes, leading to significant computational overhead and increased energy consumption. This is particularly problematic in large-scale cloud environments, where efficiency and scalability are critical. Additionally, the existing systems face challenges in balancing security with performance, especially when handling real-time data encryption for cloud services and </a:t>
            </a:r>
            <a:r>
              <a:rPr lang="en-US" dirty="0" err="1">
                <a:latin typeface="Times New Roman" panose="02020603050405020304" pitchFamily="18" charset="0"/>
                <a:ea typeface="Calibri" panose="020F0502020204030204" pitchFamily="34" charset="0"/>
                <a:cs typeface="Times New Roman" panose="02020603050405020304" pitchFamily="18" charset="0"/>
              </a:rPr>
              <a:t>IoT</a:t>
            </a:r>
            <a:r>
              <a:rPr lang="en-US" dirty="0">
                <a:latin typeface="Times New Roman" panose="02020603050405020304" pitchFamily="18" charset="0"/>
                <a:ea typeface="Calibri" panose="020F0502020204030204" pitchFamily="34" charset="0"/>
                <a:cs typeface="Times New Roman" panose="02020603050405020304" pitchFamily="18" charset="0"/>
              </a:rPr>
              <a:t> devices. As a result, there is a growing need for more efficient encryption methods that can maintain high security without compromising system performance.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059530" y="0"/>
            <a:ext cx="8596668" cy="87147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DISADVANTAGES</a:t>
            </a:r>
          </a:p>
        </p:txBody>
      </p:sp>
      <p:sp>
        <p:nvSpPr>
          <p:cNvPr id="3" name="Rectangle 2"/>
          <p:cNvSpPr/>
          <p:nvPr/>
        </p:nvSpPr>
        <p:spPr>
          <a:xfrm>
            <a:off x="1059530" y="538321"/>
            <a:ext cx="10319657" cy="6319679"/>
          </a:xfrm>
          <a:prstGeom prst="rect">
            <a:avLst/>
          </a:prstGeom>
        </p:spPr>
        <p:txBody>
          <a:bodyPr wrap="square">
            <a:spAutoFit/>
          </a:bodyPr>
          <a:lstStyle/>
          <a:p>
            <a:pPr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1. Complex Implementation: ECC involves complex mathematical operations, which can make implementation challenging, especially in environments where developers may not be familiar with elliptic curve mathematics.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2. Compatibility Issues: Integrating ECC with existing systems that predominantly use traditional encryption methods like RSA may require significant changes to infrastructure, potentially leading to compatibility issues.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3. Performance Trade-offs in Specific Scenarios: Although ECC is generally efficient, it may not always outperform traditional methods in all scenarios, particularly in environments where the system is optimized for RSA or AES encryption.</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4. Limited Hardware Support: Some legacy systems and devices may lack the necessary hardware support for ECC, which could limit its adoption in certain applications.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5. Key Management Complexity: ECC's smaller key sizes, while advantageous for security, can introduce complexities in key management, especially in distributed systems where secure key distribution and storage are critical.</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7239" y="1131485"/>
            <a:ext cx="8596668" cy="819955"/>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PROPOSED METHOD</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4" name="Rectangle 3"/>
          <p:cNvSpPr/>
          <p:nvPr/>
        </p:nvSpPr>
        <p:spPr>
          <a:xfrm>
            <a:off x="418012" y="2429783"/>
            <a:ext cx="11338560" cy="2956387"/>
          </a:xfrm>
          <a:prstGeom prst="rect">
            <a:avLst/>
          </a:prstGeom>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The proposed system introduces Elliptic Curve Cryptography (ECC) as an advanced encryption technique for enhancing data security in cloud computing environments. Unlike traditional methods, ECC offers strong encryption with significantly smaller key sizes, reducing computational overhead and energy consumption. This system aims to implement ECC for both data storage and transmission in cloud environments, ensuring robust security while maintaining high efficiency. Additionally, the proposed system will integrate real-time encryption capabilities, making it suitable for dynamic cloud services and </a:t>
            </a:r>
            <a:r>
              <a:rPr lang="en-US" dirty="0" err="1">
                <a:latin typeface="Times New Roman" panose="02020603050405020304" pitchFamily="18" charset="0"/>
                <a:ea typeface="Calibri" panose="020F0502020204030204" pitchFamily="34" charset="0"/>
                <a:cs typeface="Times New Roman" panose="02020603050405020304" pitchFamily="18" charset="0"/>
              </a:rPr>
              <a:t>IoT</a:t>
            </a:r>
            <a:r>
              <a:rPr lang="en-US" dirty="0">
                <a:latin typeface="Times New Roman" panose="02020603050405020304" pitchFamily="18" charset="0"/>
                <a:ea typeface="Calibri" panose="020F0502020204030204" pitchFamily="34" charset="0"/>
                <a:cs typeface="Times New Roman" panose="02020603050405020304" pitchFamily="18" charset="0"/>
              </a:rPr>
              <a:t> devices. By leveraging ECC, the system seeks to overcome the limitations of existing encryption methods, providing a more secure and scalable solution for modern cloud infrastructures.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29332" y="464730"/>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731521" y="1153168"/>
            <a:ext cx="10620102" cy="5488682"/>
          </a:xfrm>
          <a:prstGeom prst="rect">
            <a:avLst/>
          </a:prstGeom>
        </p:spPr>
        <p:txBody>
          <a:bodyPr wrap="square">
            <a:spAutoFit/>
          </a:bodyPr>
          <a:lstStyle/>
          <a:p>
            <a:pPr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1. Strong Security with Smaller Key Sizes: ECC provides robust encryption comparable to traditional methods like RSA but with much smaller key sizes, enhancing security while reducing computational requirements.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2. Lower Computational Overhead: Due to its smaller key size, ECC requires less computational power, making it ideal for environments where efficiency and resource optimization are critical, such as in cloud computing and </a:t>
            </a:r>
            <a:r>
              <a:rPr lang="en-IN" dirty="0" err="1">
                <a:latin typeface="Times New Roman" panose="02020603050405020304" pitchFamily="18" charset="0"/>
                <a:ea typeface="Calibri" panose="020F0502020204030204" pitchFamily="34" charset="0"/>
                <a:cs typeface="Times New Roman" panose="02020603050405020304" pitchFamily="18" charset="0"/>
              </a:rPr>
              <a:t>IoT</a:t>
            </a:r>
            <a:r>
              <a:rPr lang="en-IN" dirty="0">
                <a:latin typeface="Times New Roman" panose="02020603050405020304" pitchFamily="18" charset="0"/>
                <a:ea typeface="Calibri" panose="020F0502020204030204" pitchFamily="34" charset="0"/>
                <a:cs typeface="Times New Roman" panose="02020603050405020304" pitchFamily="18" charset="0"/>
              </a:rPr>
              <a:t> devices.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3. Energy Efficiency: The reduced computational demands of ECC lead to lower energy consumption, which is especially beneficial in large-scale cloud environments and for devices with limited battery life.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4. Scalability: ECC’s efficiency makes it highly scalable, allowing it to be used effectively in both small-scale and large-scale systems, from individual </a:t>
            </a:r>
            <a:r>
              <a:rPr lang="en-IN" dirty="0" err="1">
                <a:latin typeface="Times New Roman" panose="02020603050405020304" pitchFamily="18" charset="0"/>
                <a:ea typeface="Calibri" panose="020F0502020204030204" pitchFamily="34" charset="0"/>
                <a:cs typeface="Times New Roman" panose="02020603050405020304" pitchFamily="18" charset="0"/>
              </a:rPr>
              <a:t>IoT</a:t>
            </a:r>
            <a:r>
              <a:rPr lang="en-IN" dirty="0">
                <a:latin typeface="Times New Roman" panose="02020603050405020304" pitchFamily="18" charset="0"/>
                <a:ea typeface="Calibri" panose="020F0502020204030204" pitchFamily="34" charset="0"/>
                <a:cs typeface="Times New Roman" panose="02020603050405020304" pitchFamily="18" charset="0"/>
              </a:rPr>
              <a:t> devices to vast cloud infrastructures.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5. Enhanced Performance in Real-Time Applications: ECC’s ability to provide real-time encryption without significant performance degradation makes it suitable for dynamic applications that require immediate data processing and security.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274564" y="0"/>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PROJECT FLOW</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105666" y="6289250"/>
            <a:ext cx="4934464"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a:t>
            </a:r>
            <a:r>
              <a:rPr lang="en-US" dirty="0">
                <a:latin typeface="Times New Roman" panose="02020603050405020304" pitchFamily="18" charset="0"/>
                <a:cs typeface="Times New Roman" panose="02020603050405020304" pitchFamily="18" charset="0"/>
              </a:rPr>
              <a:t>work Flow of Proposed system</a:t>
            </a:r>
          </a:p>
        </p:txBody>
      </p:sp>
      <p:pic>
        <p:nvPicPr>
          <p:cNvPr id="7" name="Picture 6" descr="C:\Users\0598\Downloads\s.jpg"/>
          <p:cNvPicPr/>
          <p:nvPr/>
        </p:nvPicPr>
        <p:blipFill>
          <a:blip r:embed="rId2">
            <a:extLst>
              <a:ext uri="{28A0092B-C50C-407E-A947-70E740481C1C}">
                <a14:useLocalDpi xmlns:a14="http://schemas.microsoft.com/office/drawing/2010/main" val="0"/>
              </a:ext>
            </a:extLst>
          </a:blip>
          <a:srcRect/>
          <a:stretch>
            <a:fillRect/>
          </a:stretch>
        </p:blipFill>
        <p:spPr bwMode="auto">
          <a:xfrm>
            <a:off x="3105666" y="627536"/>
            <a:ext cx="5452546" cy="551200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p:nvPr/>
        </p:nvSpPr>
        <p:spPr>
          <a:xfrm>
            <a:off x="1706394" y="2158314"/>
            <a:ext cx="8295066" cy="3880022"/>
          </a:xfrm>
          <a:prstGeom prst="rect">
            <a:avLst/>
          </a:prstGeom>
        </p:spPr>
        <p:txBody>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Font typeface="Arial" panose="020B0604020202020204"/>
              <a:buNone/>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p>
          <a:p>
            <a:pPr algn="just">
              <a:lnSpc>
                <a:spcPct val="150000"/>
              </a:lnSpc>
            </a:pPr>
            <a:r>
              <a:rPr lang="en-US" sz="2000" dirty="0">
                <a:latin typeface="Times New Roman" panose="02020603050405020304" pitchFamily="18" charset="0"/>
                <a:cs typeface="Times New Roman" panose="02020603050405020304" pitchFamily="18" charset="0"/>
              </a:rPr>
              <a:t>Operating System			:  Windows 7/8/10</a:t>
            </a:r>
          </a:p>
          <a:p>
            <a:pPr algn="just">
              <a:lnSpc>
                <a:spcPct val="150000"/>
              </a:lnSpc>
            </a:pPr>
            <a:r>
              <a:rPr lang="en-US" sz="2000" dirty="0">
                <a:latin typeface="Times New Roman" panose="02020603050405020304" pitchFamily="18" charset="0"/>
                <a:cs typeface="Times New Roman" panose="02020603050405020304" pitchFamily="18" charset="0"/>
              </a:rPr>
              <a:t>Server side Script			:  HTML, CSS, Bootstrap &amp; JS</a:t>
            </a:r>
          </a:p>
          <a:p>
            <a:pPr algn="just">
              <a:lnSpc>
                <a:spcPct val="150000"/>
              </a:lnSpc>
            </a:pPr>
            <a:r>
              <a:rPr lang="en-US" sz="2000" dirty="0">
                <a:latin typeface="Times New Roman" panose="02020603050405020304" pitchFamily="18" charset="0"/>
                <a:cs typeface="Times New Roman" panose="02020603050405020304" pitchFamily="18" charset="0"/>
              </a:rPr>
              <a:t>Programming Language	:  Python</a:t>
            </a:r>
          </a:p>
          <a:p>
            <a:pPr algn="just">
              <a:lnSpc>
                <a:spcPct val="150000"/>
              </a:lnSpc>
            </a:pPr>
            <a:r>
              <a:rPr lang="en-US" sz="2000" dirty="0">
                <a:latin typeface="Times New Roman" panose="02020603050405020304" pitchFamily="18" charset="0"/>
                <a:cs typeface="Times New Roman" panose="02020603050405020304" pitchFamily="18" charset="0"/>
              </a:rPr>
              <a:t>Libraries					:  Django, Pandas, </a:t>
            </a:r>
            <a:r>
              <a:rPr lang="en-US" sz="2000" dirty="0" err="1">
                <a:latin typeface="Times New Roman" panose="02020603050405020304" pitchFamily="18" charset="0"/>
                <a:cs typeface="Times New Roman" panose="02020603050405020304" pitchFamily="18" charset="0"/>
              </a:rPr>
              <a:t>Mysql.connector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Os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Smtplib</a:t>
            </a:r>
            <a:r>
              <a:rPr lang="en-US" sz="2000" dirty="0">
                <a:latin typeface="Times New Roman" panose="02020603050405020304" pitchFamily="18" charset="0"/>
                <a:cs typeface="Times New Roman" panose="02020603050405020304" pitchFamily="18" charset="0"/>
              </a:rPr>
              <a:t>, 							    Numpy</a:t>
            </a:r>
          </a:p>
          <a:p>
            <a:pPr algn="just">
              <a:lnSpc>
                <a:spcPct val="150000"/>
              </a:lnSpc>
            </a:pPr>
            <a:r>
              <a:rPr lang="en-US" sz="2000" dirty="0">
                <a:latin typeface="Times New Roman" panose="02020603050405020304" pitchFamily="18" charset="0"/>
                <a:cs typeface="Times New Roman" panose="02020603050405020304" pitchFamily="18" charset="0"/>
              </a:rPr>
              <a:t>IDE/Workbench			:  VS Code</a:t>
            </a:r>
          </a:p>
        </p:txBody>
      </p:sp>
      <p:sp>
        <p:nvSpPr>
          <p:cNvPr id="5"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804410" y="2044100"/>
            <a:ext cx="8596668" cy="3880773"/>
          </a:xfrm>
          <a:prstGeom prst="rect">
            <a:avLst/>
          </a:prstGeom>
        </p:spPr>
        <p:txBody>
          <a:bodyPr>
            <a:normAutofit fontScale="85000" lnSpcReduction="2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b="1" dirty="0">
                <a:solidFill>
                  <a:schemeClr val="accent3">
                    <a:lumMod val="50000"/>
                  </a:schemeClr>
                </a:solidFill>
                <a:latin typeface="Times New Roman" panose="02020603050405020304" pitchFamily="18" charset="0"/>
                <a:cs typeface="Times New Roman" panose="02020603050405020304" pitchFamily="18" charset="0"/>
              </a:rPr>
              <a:t>HARDWARE REQUIREMENTS</a:t>
            </a:r>
            <a:endParaRPr lang="en-US"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Processor            	                   - I3/Intel Processor</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RAM                                       - 8GB (min)</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Hard Disk                                - 128 GB</a:t>
            </a:r>
          </a:p>
          <a:p>
            <a:pPr algn="just">
              <a:lnSpc>
                <a:spcPct val="150000"/>
              </a:lnSpc>
            </a:pPr>
            <a:r>
              <a:rPr lang="en-US" dirty="0">
                <a:latin typeface="Times New Roman" panose="02020603050405020304" pitchFamily="18" charset="0"/>
                <a:cs typeface="Times New Roman" panose="02020603050405020304" pitchFamily="18" charset="0"/>
              </a:rPr>
              <a:t>Key Board                               - Standard Windows Keyboard</a:t>
            </a:r>
          </a:p>
          <a:p>
            <a:pPr algn="just">
              <a:lnSpc>
                <a:spcPct val="150000"/>
              </a:lnSpc>
            </a:pPr>
            <a:r>
              <a:rPr lang="en-US" dirty="0">
                <a:latin typeface="Times New Roman" panose="02020603050405020304" pitchFamily="18" charset="0"/>
                <a:cs typeface="Times New Roman" panose="02020603050405020304" pitchFamily="18" charset="0"/>
              </a:rPr>
              <a:t>Mouse                                      - Two or Three Button Mouse</a:t>
            </a:r>
          </a:p>
          <a:p>
            <a:pPr algn="just">
              <a:lnSpc>
                <a:spcPct val="150000"/>
              </a:lnSpc>
            </a:pPr>
            <a:r>
              <a:rPr lang="en-US" dirty="0">
                <a:latin typeface="Times New Roman" panose="02020603050405020304" pitchFamily="18" charset="0"/>
                <a:cs typeface="Times New Roman" panose="02020603050405020304" pitchFamily="18" charset="0"/>
              </a:rPr>
              <a:t>Monitor                                    - Any</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319939" y="1911179"/>
            <a:ext cx="9792904" cy="4176583"/>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Requirement’s analysis is very critical process that enables the success of a system or software project to be assessed. Requirements are generally split into two types: Functional and non-functional requirements.</a:t>
            </a:r>
          </a:p>
          <a:p>
            <a:pPr algn="just" fontAlgn="base">
              <a:lnSpc>
                <a:spcPct val="150000"/>
              </a:lnSpc>
            </a:pPr>
            <a:r>
              <a:rPr lang="en-US" sz="2000" b="1" dirty="0">
                <a:latin typeface="Times New Roman" panose="02020603050405020304" pitchFamily="18" charset="0"/>
                <a:cs typeface="Times New Roman" panose="02020603050405020304" pitchFamily="18" charset="0"/>
              </a:rPr>
              <a:t>Functional Requirements</a:t>
            </a:r>
            <a:r>
              <a:rPr lang="en-US" sz="2000" dirty="0">
                <a:latin typeface="Times New Roman" panose="02020603050405020304" pitchFamily="18" charset="0"/>
                <a:cs typeface="Times New Roman" panose="02020603050405020304" pitchFamily="18" charset="0"/>
              </a:rPr>
              <a:t>: These are the requirements that the end user specifically demands as basic facilities that the system should offer. All these functionalities need to be necessarily incorporated into the system as a part of the contract. These are represented or stated in the form of input to be given to the system, the operation performed and the output expected. They are basically the requirements stated by the user which one can see directly in the final product, unlike the non-functional requirements.</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070918" y="1672282"/>
            <a:ext cx="10412628" cy="4547286"/>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Examples of functional requirements: </a:t>
            </a:r>
          </a:p>
          <a:p>
            <a:pPr lvl="0" algn="just" fontAlgn="base">
              <a:lnSpc>
                <a:spcPct val="150000"/>
              </a:lnSpc>
            </a:pPr>
            <a:r>
              <a:rPr lang="en-US" sz="2000" dirty="0">
                <a:latin typeface="Times New Roman" panose="02020603050405020304" pitchFamily="18" charset="0"/>
                <a:cs typeface="Times New Roman" panose="02020603050405020304" pitchFamily="18" charset="0"/>
              </a:rPr>
              <a:t>Authentication of user whenever he/she logs into the system</a:t>
            </a:r>
          </a:p>
          <a:p>
            <a:pPr lvl="0" algn="just" fontAlgn="base">
              <a:lnSpc>
                <a:spcPct val="150000"/>
              </a:lnSpc>
            </a:pPr>
            <a:r>
              <a:rPr lang="en-US" sz="2000" dirty="0">
                <a:latin typeface="Times New Roman" panose="02020603050405020304" pitchFamily="18" charset="0"/>
                <a:cs typeface="Times New Roman" panose="02020603050405020304" pitchFamily="18" charset="0"/>
              </a:rPr>
              <a:t>System shutdown in case of a cyber-attack</a:t>
            </a:r>
          </a:p>
          <a:p>
            <a:pPr lvl="0" algn="just" fontAlgn="base">
              <a:lnSpc>
                <a:spcPct val="150000"/>
              </a:lnSpc>
            </a:pPr>
            <a:r>
              <a:rPr lang="en-US" sz="2000" dirty="0">
                <a:latin typeface="Times New Roman" panose="02020603050405020304" pitchFamily="18" charset="0"/>
                <a:cs typeface="Times New Roman" panose="02020603050405020304" pitchFamily="18" charset="0"/>
              </a:rPr>
              <a:t>A verification email is sent to user whenever he/she register for the first time on some software system.</a:t>
            </a:r>
          </a:p>
          <a:p>
            <a:pPr algn="just">
              <a:lnSpc>
                <a:spcPct val="150000"/>
              </a:lnSpc>
            </a:pPr>
            <a:r>
              <a:rPr lang="en-US" sz="2000" b="1" dirty="0">
                <a:latin typeface="Times New Roman" panose="02020603050405020304" pitchFamily="18" charset="0"/>
                <a:cs typeface="Times New Roman" panose="02020603050405020304" pitchFamily="18" charset="0"/>
              </a:rPr>
              <a:t>Non-functional requirements</a:t>
            </a:r>
            <a:r>
              <a:rPr lang="en-US" sz="2000" dirty="0">
                <a:latin typeface="Times New Roman" panose="02020603050405020304" pitchFamily="18" charset="0"/>
                <a:cs typeface="Times New Roman" panose="02020603050405020304" pitchFamily="18" charset="0"/>
              </a:rPr>
              <a:t>: These are basically the quality constraints that the system must satisfy according to the project contract. The priority or extent to which these factors are implemented varies from one project to other. They are also called non-behavioral requirements.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476459" y="520222"/>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20523" y="68258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ARCHITECTURE</a:t>
            </a:r>
            <a:endParaRPr lang="en-US" sz="3600" b="1" dirty="0"/>
          </a:p>
        </p:txBody>
      </p:sp>
      <p:pic>
        <p:nvPicPr>
          <p:cNvPr id="5" name="Picture 4"/>
          <p:cNvPicPr/>
          <p:nvPr/>
        </p:nvPicPr>
        <p:blipFill>
          <a:blip r:embed="rId2"/>
          <a:stretch>
            <a:fillRect/>
          </a:stretch>
        </p:blipFill>
        <p:spPr>
          <a:xfrm>
            <a:off x="3895725" y="1323975"/>
            <a:ext cx="4400550" cy="42100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20523" y="68258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MODULES</a:t>
            </a:r>
            <a:endParaRPr lang="en-US" sz="3600" b="1" dirty="0"/>
          </a:p>
        </p:txBody>
      </p:sp>
      <p:sp>
        <p:nvSpPr>
          <p:cNvPr id="2" name="Rectangle 1"/>
          <p:cNvSpPr/>
          <p:nvPr/>
        </p:nvSpPr>
        <p:spPr>
          <a:xfrm>
            <a:off x="617365" y="1367481"/>
            <a:ext cx="10802983" cy="3566617"/>
          </a:xfrm>
          <a:prstGeom prst="rect">
            <a:avLst/>
          </a:prstGeom>
        </p:spPr>
        <p:txBody>
          <a:bodyPr wrap="square">
            <a:spAutoFit/>
          </a:bodyPr>
          <a:lstStyle/>
          <a:p>
            <a:pPr>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Data Owner: </a:t>
            </a:r>
          </a:p>
          <a:p>
            <a:pPr>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Register: Data owner can register into website by entering details. </a:t>
            </a:r>
          </a:p>
          <a:p>
            <a:pPr>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Login: He can login into website by entering their credentials.(after admin authorized)</a:t>
            </a:r>
          </a:p>
          <a:p>
            <a:pPr>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Upload files: Here he can upload their files into website and he can encrypt that file using ECC. </a:t>
            </a:r>
          </a:p>
          <a:p>
            <a:pPr>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View files: here he can view their files. </a:t>
            </a:r>
          </a:p>
          <a:p>
            <a:pPr>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View file request: Here Owner can view his file requests and decrypt the file. </a:t>
            </a:r>
          </a:p>
          <a:p>
            <a:pPr>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Logout: The Owner will logout from website.</a:t>
            </a:r>
          </a:p>
        </p:txBody>
      </p:sp>
    </p:spTree>
    <p:extLst>
      <p:ext uri="{BB962C8B-B14F-4D97-AF65-F5344CB8AC3E}">
        <p14:creationId xmlns:p14="http://schemas.microsoft.com/office/powerpoint/2010/main" val="36886907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9634" y="-147988"/>
            <a:ext cx="11704319" cy="7140416"/>
          </a:xfrm>
          <a:prstGeom prst="rect">
            <a:avLst/>
          </a:prstGeom>
        </p:spPr>
        <p:txBody>
          <a:bodyPr wrap="square">
            <a:spAutoFit/>
          </a:bodyPr>
          <a:lstStyle/>
          <a:p>
            <a:pPr algn="just">
              <a:lnSpc>
                <a:spcPct val="15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Data User: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Register:</a:t>
            </a:r>
            <a:r>
              <a:rPr lang="en-IN" dirty="0">
                <a:latin typeface="Times New Roman" panose="02020603050405020304" pitchFamily="18" charset="0"/>
                <a:ea typeface="Calibri" panose="020F0502020204030204" pitchFamily="34" charset="0"/>
                <a:cs typeface="Times New Roman" panose="02020603050405020304" pitchFamily="18" charset="0"/>
              </a:rPr>
              <a:t> Data user can register into website by entering details.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Login:</a:t>
            </a:r>
            <a:r>
              <a:rPr lang="en-IN" dirty="0">
                <a:latin typeface="Times New Roman" panose="02020603050405020304" pitchFamily="18" charset="0"/>
                <a:ea typeface="Calibri" panose="020F0502020204030204" pitchFamily="34" charset="0"/>
                <a:cs typeface="Times New Roman" panose="02020603050405020304" pitchFamily="18" charset="0"/>
              </a:rPr>
              <a:t> He can login into website by entering their credentials.(after admin authorized)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View files:</a:t>
            </a:r>
            <a:r>
              <a:rPr lang="en-IN" dirty="0">
                <a:latin typeface="Times New Roman" panose="02020603050405020304" pitchFamily="18" charset="0"/>
                <a:ea typeface="Calibri" panose="020F0502020204030204" pitchFamily="34" charset="0"/>
                <a:cs typeface="Times New Roman" panose="02020603050405020304" pitchFamily="18" charset="0"/>
              </a:rPr>
              <a:t> He can view the file and send a file request to data owner.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View response:</a:t>
            </a:r>
            <a:r>
              <a:rPr lang="en-IN" dirty="0">
                <a:latin typeface="Times New Roman" panose="02020603050405020304" pitchFamily="18" charset="0"/>
                <a:ea typeface="Calibri" panose="020F0502020204030204" pitchFamily="34" charset="0"/>
                <a:cs typeface="Times New Roman" panose="02020603050405020304" pitchFamily="18" charset="0"/>
              </a:rPr>
              <a:t> here he can view the requested file response.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Download file:</a:t>
            </a:r>
            <a:r>
              <a:rPr lang="en-IN" dirty="0">
                <a:latin typeface="Times New Roman" panose="02020603050405020304" pitchFamily="18" charset="0"/>
                <a:ea typeface="Calibri" panose="020F0502020204030204" pitchFamily="34" charset="0"/>
                <a:cs typeface="Times New Roman" panose="02020603050405020304" pitchFamily="18" charset="0"/>
              </a:rPr>
              <a:t> he can download the file by using the key.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Logout:</a:t>
            </a:r>
            <a:r>
              <a:rPr lang="en-IN" dirty="0">
                <a:latin typeface="Times New Roman" panose="02020603050405020304" pitchFamily="18" charset="0"/>
                <a:ea typeface="Calibri" panose="020F0502020204030204" pitchFamily="34" charset="0"/>
                <a:cs typeface="Times New Roman" panose="02020603050405020304" pitchFamily="18" charset="0"/>
              </a:rPr>
              <a:t> The User will logout form here.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Cloud:</a:t>
            </a:r>
            <a:r>
              <a:rPr lang="en-IN" dirty="0">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Login:</a:t>
            </a:r>
            <a:r>
              <a:rPr lang="en-IN" dirty="0">
                <a:latin typeface="Times New Roman" panose="02020603050405020304" pitchFamily="18" charset="0"/>
                <a:ea typeface="Calibri" panose="020F0502020204030204" pitchFamily="34" charset="0"/>
                <a:cs typeface="Times New Roman" panose="02020603050405020304" pitchFamily="18" charset="0"/>
              </a:rPr>
              <a:t> He can login into website by entering their credentials.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View and authorize Data owner:</a:t>
            </a:r>
            <a:r>
              <a:rPr lang="en-IN" dirty="0">
                <a:latin typeface="Times New Roman" panose="02020603050405020304" pitchFamily="18" charset="0"/>
                <a:ea typeface="Calibri" panose="020F0502020204030204" pitchFamily="34" charset="0"/>
                <a:cs typeface="Times New Roman" panose="02020603050405020304" pitchFamily="18" charset="0"/>
              </a:rPr>
              <a:t> here admin can view the registered owner and he can authorize and unauthorized the owner.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View and authorize Data user:</a:t>
            </a:r>
            <a:r>
              <a:rPr lang="en-IN" dirty="0">
                <a:latin typeface="Times New Roman" panose="02020603050405020304" pitchFamily="18" charset="0"/>
                <a:ea typeface="Calibri" panose="020F0502020204030204" pitchFamily="34" charset="0"/>
                <a:cs typeface="Times New Roman" panose="02020603050405020304" pitchFamily="18" charset="0"/>
              </a:rPr>
              <a:t> here admin can view the registered user and he can authorize and unauthorised the user.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Send key:</a:t>
            </a:r>
            <a:r>
              <a:rPr lang="en-IN" dirty="0">
                <a:latin typeface="Times New Roman" panose="02020603050405020304" pitchFamily="18" charset="0"/>
                <a:ea typeface="Calibri" panose="020F0502020204030204" pitchFamily="34" charset="0"/>
                <a:cs typeface="Times New Roman" panose="02020603050405020304" pitchFamily="18" charset="0"/>
              </a:rPr>
              <a:t> Here admin can send a key through email for downloading the file.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Logout:</a:t>
            </a:r>
            <a:r>
              <a:rPr lang="en-IN" dirty="0">
                <a:latin typeface="Times New Roman" panose="02020603050405020304" pitchFamily="18" charset="0"/>
                <a:ea typeface="Calibri" panose="020F0502020204030204" pitchFamily="34" charset="0"/>
                <a:cs typeface="Times New Roman" panose="02020603050405020304" pitchFamily="18" charset="0"/>
              </a:rPr>
              <a:t> The Cloud should be logout.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257989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D1E0BD4-AAF1-4977-B0B6-BBD7A5EB8659}"/>
              </a:ext>
            </a:extLst>
          </p:cNvPr>
          <p:cNvSpPr/>
          <p:nvPr/>
        </p:nvSpPr>
        <p:spPr>
          <a:xfrm>
            <a:off x="5321352" y="162258"/>
            <a:ext cx="2486578" cy="584775"/>
          </a:xfrm>
          <a:prstGeom prst="rect">
            <a:avLst/>
          </a:prstGeom>
        </p:spPr>
        <p:txBody>
          <a:bodyPr wrap="none">
            <a:spAutoFit/>
          </a:bodyPr>
          <a:lstStyle/>
          <a:p>
            <a:r>
              <a:rPr lang="en-US" sz="3200" b="1" dirty="0">
                <a:latin typeface="Times New Roman" panose="02020603050405020304" pitchFamily="18" charset="0"/>
                <a:cs typeface="Times New Roman" panose="02020603050405020304" pitchFamily="18" charset="0"/>
              </a:rPr>
              <a:t>Methodology</a:t>
            </a:r>
            <a:endParaRPr lang="en-US" sz="3200" dirty="0"/>
          </a:p>
        </p:txBody>
      </p:sp>
      <p:sp>
        <p:nvSpPr>
          <p:cNvPr id="4" name="Rectangle 3"/>
          <p:cNvSpPr/>
          <p:nvPr/>
        </p:nvSpPr>
        <p:spPr>
          <a:xfrm>
            <a:off x="487681" y="648286"/>
            <a:ext cx="11530148" cy="5914440"/>
          </a:xfrm>
          <a:prstGeom prst="rect">
            <a:avLst/>
          </a:prstGeom>
        </p:spPr>
        <p:txBody>
          <a:bodyPr wrap="square">
            <a:spAutoFit/>
          </a:bodyPr>
          <a:lstStyle/>
          <a:p>
            <a:pPr algn="just">
              <a:lnSpc>
                <a:spcPct val="15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ECC:</a:t>
            </a:r>
            <a:r>
              <a:rPr lang="en-IN" sz="1400" dirty="0">
                <a:latin typeface="Calibri" panose="020F0502020204030204" pitchFamily="34" charset="0"/>
                <a:ea typeface="Calibri" panose="020F0502020204030204" pitchFamily="34" charset="0"/>
                <a:cs typeface="Times New Roman" panose="02020603050405020304" pitchFamily="18" charset="0"/>
              </a:rPr>
              <a:t> </a:t>
            </a:r>
            <a:r>
              <a:rPr lang="en-IN" b="1" dirty="0">
                <a:latin typeface="Times New Roman" panose="02020603050405020304" pitchFamily="18" charset="0"/>
                <a:ea typeface="Calibri" panose="020F0502020204030204" pitchFamily="34" charset="0"/>
                <a:cs typeface="Times New Roman" panose="02020603050405020304" pitchFamily="18" charset="0"/>
              </a:rPr>
              <a:t>elliptical curve cryptography</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ECC is an alternative to the </a:t>
            </a:r>
            <a:r>
              <a:rPr lang="en-IN" dirty="0" err="1">
                <a:latin typeface="Times New Roman" panose="02020603050405020304" pitchFamily="18" charset="0"/>
                <a:ea typeface="Calibri" panose="020F0502020204030204" pitchFamily="34" charset="0"/>
                <a:cs typeface="Times New Roman" panose="02020603050405020304" pitchFamily="18" charset="0"/>
              </a:rPr>
              <a:t>Rivest</a:t>
            </a:r>
            <a:r>
              <a:rPr lang="en-IN" dirty="0">
                <a:latin typeface="Times New Roman" panose="02020603050405020304" pitchFamily="18" charset="0"/>
                <a:ea typeface="Calibri" panose="020F0502020204030204" pitchFamily="34" charset="0"/>
                <a:cs typeface="Times New Roman" panose="02020603050405020304" pitchFamily="18" charset="0"/>
              </a:rPr>
              <a:t>-Shamir-</a:t>
            </a:r>
            <a:r>
              <a:rPr lang="en-IN" dirty="0" err="1">
                <a:latin typeface="Times New Roman" panose="02020603050405020304" pitchFamily="18" charset="0"/>
                <a:ea typeface="Calibri" panose="020F0502020204030204" pitchFamily="34" charset="0"/>
                <a:cs typeface="Times New Roman" panose="02020603050405020304" pitchFamily="18" charset="0"/>
              </a:rPr>
              <a:t>Adleman</a:t>
            </a:r>
            <a:r>
              <a:rPr lang="en-IN" dirty="0">
                <a:latin typeface="Times New Roman" panose="02020603050405020304" pitchFamily="18" charset="0"/>
                <a:ea typeface="Calibri" panose="020F0502020204030204" pitchFamily="34" charset="0"/>
                <a:cs typeface="Times New Roman" panose="02020603050405020304" pitchFamily="18" charset="0"/>
              </a:rPr>
              <a:t> (RSA) cryptographic algorithm and is most often used for digital signatures in cryptocurrencies, such as Bitcoin and </a:t>
            </a:r>
            <a:r>
              <a:rPr lang="en-IN" dirty="0" err="1">
                <a:latin typeface="Times New Roman" panose="02020603050405020304" pitchFamily="18" charset="0"/>
                <a:ea typeface="Calibri" panose="020F0502020204030204" pitchFamily="34" charset="0"/>
                <a:cs typeface="Times New Roman" panose="02020603050405020304" pitchFamily="18" charset="0"/>
              </a:rPr>
              <a:t>Ethereum</a:t>
            </a:r>
            <a:r>
              <a:rPr lang="en-IN" dirty="0">
                <a:latin typeface="Times New Roman" panose="02020603050405020304" pitchFamily="18" charset="0"/>
                <a:ea typeface="Calibri" panose="020F0502020204030204" pitchFamily="34" charset="0"/>
                <a:cs typeface="Times New Roman" panose="02020603050405020304" pitchFamily="18" charset="0"/>
              </a:rPr>
              <a:t>, as well as one-way encryption of emails, data and software.</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An elliptic curve is not an ellipse, or oval shape, but it is represented as a looping line intersecting two axes, which are lines on a graph used to indicate the position of a point. The curve is completely symmetric, or mirrored, along the x-axis of the graph.</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Public key cryptography systems, like ECC, use a mathematical process to merge two distinct keys and then use the output to encrypt and decrypt data. One is a public key that is known to anyone, and the other is a private key that is only known by the sender and receiver of the data</a:t>
            </a:r>
            <a:r>
              <a:rPr lang="en-IN" dirty="0" smtClean="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ECC generates keys through the properties of an elliptic curve equation instead of the traditional method of generation as the product of large prime numbers. From a cryptographic perspective, the points along the graph can be formulated using the following equation:</a:t>
            </a:r>
          </a:p>
          <a:p>
            <a:pPr algn="just">
              <a:lnSpc>
                <a:spcPct val="150000"/>
              </a:lnSpc>
              <a:spcAft>
                <a:spcPts val="800"/>
              </a:spcAft>
            </a:pP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405355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27018" y="483326"/>
            <a:ext cx="11116491" cy="5837495"/>
          </a:xfrm>
          <a:prstGeom prst="rect">
            <a:avLst/>
          </a:prstGeom>
        </p:spPr>
        <p:txBody>
          <a:bodyPr wrap="square">
            <a:spAutoFit/>
          </a:bodyPr>
          <a:lstStyle/>
          <a:p>
            <a:pPr algn="ctr">
              <a:lnSpc>
                <a:spcPct val="150000"/>
              </a:lnSpc>
              <a:spcAft>
                <a:spcPts val="800"/>
              </a:spcAft>
            </a:pPr>
            <a:r>
              <a:rPr lang="en-IN" sz="2400" b="1" i="1" dirty="0" smtClean="0">
                <a:latin typeface="Arial" panose="020B0604020202020204" pitchFamily="34" charset="0"/>
                <a:ea typeface="Calibri" panose="020F0502020204030204" pitchFamily="34" charset="0"/>
                <a:cs typeface="Times New Roman" panose="02020603050405020304" pitchFamily="18" charset="0"/>
              </a:rPr>
              <a:t>y²=x³ </a:t>
            </a:r>
            <a:r>
              <a:rPr lang="en-IN" sz="2400" b="1" i="1" dirty="0">
                <a:latin typeface="Arial" panose="020B0604020202020204" pitchFamily="34" charset="0"/>
                <a:ea typeface="Calibri" panose="020F0502020204030204" pitchFamily="34" charset="0"/>
                <a:cs typeface="Times New Roman" panose="02020603050405020304" pitchFamily="18" charset="0"/>
              </a:rPr>
              <a:t>+ </a:t>
            </a:r>
            <a:r>
              <a:rPr lang="en-IN" sz="2400" b="1" i="1" dirty="0" err="1">
                <a:latin typeface="Arial" panose="020B0604020202020204" pitchFamily="34" charset="0"/>
                <a:ea typeface="Calibri" panose="020F0502020204030204" pitchFamily="34" charset="0"/>
                <a:cs typeface="Times New Roman" panose="02020603050405020304" pitchFamily="18" charset="0"/>
              </a:rPr>
              <a:t>ax</a:t>
            </a:r>
            <a:r>
              <a:rPr lang="en-IN" sz="2400" b="1" i="1" dirty="0">
                <a:latin typeface="Arial" panose="020B0604020202020204" pitchFamily="34" charset="0"/>
                <a:ea typeface="Calibri" panose="020F0502020204030204" pitchFamily="34" charset="0"/>
                <a:cs typeface="Times New Roman" panose="02020603050405020304" pitchFamily="18" charset="0"/>
              </a:rPr>
              <a:t> + b</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ECC is like most other public key encryption methods, such as the RSA algorithm and </a:t>
            </a:r>
            <a:r>
              <a:rPr lang="en-IN" dirty="0" err="1">
                <a:latin typeface="Times New Roman" panose="02020603050405020304" pitchFamily="18" charset="0"/>
                <a:ea typeface="Calibri" panose="020F0502020204030204" pitchFamily="34" charset="0"/>
                <a:cs typeface="Times New Roman" panose="02020603050405020304" pitchFamily="18" charset="0"/>
              </a:rPr>
              <a:t>Diffie</a:t>
            </a:r>
            <a:r>
              <a:rPr lang="en-IN" dirty="0">
                <a:latin typeface="Times New Roman" panose="02020603050405020304" pitchFamily="18" charset="0"/>
                <a:ea typeface="Calibri" panose="020F0502020204030204" pitchFamily="34" charset="0"/>
                <a:cs typeface="Times New Roman" panose="02020603050405020304" pitchFamily="18" charset="0"/>
              </a:rPr>
              <a:t>-Hellman. Each of these cryptography mechanisms uses the concept of a one-way, or trapdoor, function. This means that a mathematical equation with a public and private key can be used to easily get from point A to point B. But, without knowing the private key and depending on the key size used, getting from B to A is difficult, if not impossible, to achieve.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ECC is based on the properties of a set of values for which operations can be performed on any two members of the group to produce a third member, which is derived from points where the line intersects the axes as shown with the green line and three blue dots in the below diagram </a:t>
            </a:r>
            <a:r>
              <a:rPr lang="en-IN" dirty="0" err="1">
                <a:latin typeface="Times New Roman" panose="02020603050405020304" pitchFamily="18" charset="0"/>
                <a:ea typeface="Calibri" panose="020F0502020204030204" pitchFamily="34" charset="0"/>
                <a:cs typeface="Times New Roman" panose="02020603050405020304" pitchFamily="18" charset="0"/>
              </a:rPr>
              <a:t>labeled</a:t>
            </a:r>
            <a:r>
              <a:rPr lang="en-IN" dirty="0">
                <a:latin typeface="Times New Roman" panose="02020603050405020304" pitchFamily="18" charset="0"/>
                <a:ea typeface="Calibri" panose="020F0502020204030204" pitchFamily="34" charset="0"/>
                <a:cs typeface="Times New Roman" panose="02020603050405020304" pitchFamily="18" charset="0"/>
              </a:rPr>
              <a:t> A, B and C. Multiplying a point on the curve by a number produces another point on the curve (C). Taking point C and bringing it to the mirrored point on the opposite side of the x-axis produces point D. From here, a line is drawn back to our original point A, creating an intersection at point E. This process can be completed n number of times within a defined max value. The n is the private key value, which indicates how many times the equation should be run, ending on the final value that is used to encrypt and decrypt data. The maximum defined value of the equation relates to the key size used.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748076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7139215" y="1117691"/>
            <a:ext cx="4810760" cy="3943350"/>
          </a:xfrm>
          <a:prstGeom prst="rect">
            <a:avLst/>
          </a:prstGeom>
        </p:spPr>
      </p:pic>
      <p:sp>
        <p:nvSpPr>
          <p:cNvPr id="4" name="Rectangle 3"/>
          <p:cNvSpPr/>
          <p:nvPr/>
        </p:nvSpPr>
        <p:spPr>
          <a:xfrm>
            <a:off x="696686" y="608540"/>
            <a:ext cx="6096000" cy="4452501"/>
          </a:xfrm>
          <a:prstGeom prst="rect">
            <a:avLst/>
          </a:prstGeom>
        </p:spPr>
        <p:txBody>
          <a:bodyPr>
            <a:spAutoFit/>
          </a:bodyPr>
          <a:lstStyle/>
          <a:p>
            <a:pPr algn="just">
              <a:lnSpc>
                <a:spcPct val="15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How secure is elliptical curve cryptography?</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ECC is thought to be highly secure if the key size used is large enough. The U.S. government requires the use of ECC with a key size of either 256 or 384 bits for internal communications, depending on the sensitivity level of the information being transmitted.</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But ECC is not necessarily any more or less secure compared to alternatives such as RSA. The primary benefit of ECC is the inherent efficiencies gained when encrypting and decrypting data.</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76647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1135" y="1911179"/>
            <a:ext cx="9045146" cy="3784600"/>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Use Case Diagram:</a:t>
            </a:r>
          </a:p>
          <a:p>
            <a:pPr marL="342900" lvl="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14842" y="298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 Box 1"/>
          <p:cNvSpPr txBox="1"/>
          <p:nvPr/>
        </p:nvSpPr>
        <p:spPr>
          <a:xfrm>
            <a:off x="4534535" y="5790565"/>
            <a:ext cx="3307080" cy="36830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Use Case Diagram</a:t>
            </a:r>
          </a:p>
        </p:txBody>
      </p:sp>
      <p:pic>
        <p:nvPicPr>
          <p:cNvPr id="9" name="Picture 8" descr="C:\Users\0598\vpworkspace\Use Case Diagram1.jpg"/>
          <p:cNvPicPr/>
          <p:nvPr/>
        </p:nvPicPr>
        <p:blipFill>
          <a:blip r:embed="rId2">
            <a:extLst>
              <a:ext uri="{28A0092B-C50C-407E-A947-70E740481C1C}">
                <a14:useLocalDpi xmlns:a14="http://schemas.microsoft.com/office/drawing/2010/main" val="0"/>
              </a:ext>
            </a:extLst>
          </a:blip>
          <a:srcRect/>
          <a:stretch>
            <a:fillRect/>
          </a:stretch>
        </p:blipFill>
        <p:spPr bwMode="auto">
          <a:xfrm>
            <a:off x="3416300" y="1072152"/>
            <a:ext cx="5543550" cy="471841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1135" y="1911179"/>
            <a:ext cx="9045146" cy="2345322"/>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Class Diagram:</a:t>
            </a:r>
          </a:p>
          <a:p>
            <a:pPr algn="just">
              <a:lnSpc>
                <a:spcPct val="150000"/>
              </a:lnSpc>
            </a:pPr>
            <a:r>
              <a:rPr lang="en-US" sz="2000" dirty="0">
                <a:latin typeface="Times New Roman" panose="02020603050405020304" pitchFamily="18" charset="0"/>
                <a:cs typeface="Times New Roman" panose="02020603050405020304" pitchFamily="18" charset="0"/>
              </a:rPr>
              <a:t>In software engineering, a class diagram in the Unified Modelling Language (UML) is a type of static structure diagram that describes the structure of a system by showing the system's classes, their attributes, operations (or methods), and the relationships among the classes. It explains which class contains information.</a:t>
            </a:r>
          </a:p>
        </p:txBody>
      </p:sp>
    </p:spTree>
    <p:extLst>
      <p:ext uri="{BB962C8B-B14F-4D97-AF65-F5344CB8AC3E}">
        <p14:creationId xmlns:p14="http://schemas.microsoft.com/office/powerpoint/2010/main" val="18781646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041196" y="5873578"/>
            <a:ext cx="297386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Class diagram</a:t>
            </a:r>
          </a:p>
        </p:txBody>
      </p:sp>
      <p:pic>
        <p:nvPicPr>
          <p:cNvPr id="5" name="Picture 4" descr="C:\Users\0598\vpworkspace\Class Diagram1.jpg"/>
          <p:cNvPicPr/>
          <p:nvPr/>
        </p:nvPicPr>
        <p:blipFill>
          <a:blip r:embed="rId2">
            <a:extLst>
              <a:ext uri="{28A0092B-C50C-407E-A947-70E740481C1C}">
                <a14:useLocalDpi xmlns:a14="http://schemas.microsoft.com/office/drawing/2010/main" val="0"/>
              </a:ext>
            </a:extLst>
          </a:blip>
          <a:srcRect/>
          <a:stretch>
            <a:fillRect/>
          </a:stretch>
        </p:blipFill>
        <p:spPr bwMode="auto">
          <a:xfrm>
            <a:off x="3876675" y="1543050"/>
            <a:ext cx="4438650" cy="3771900"/>
          </a:xfrm>
          <a:prstGeom prst="rect">
            <a:avLst/>
          </a:prstGeom>
          <a:noFill/>
          <a:ln>
            <a:noFill/>
          </a:ln>
        </p:spPr>
      </p:pic>
    </p:spTree>
    <p:extLst>
      <p:ext uri="{BB962C8B-B14F-4D97-AF65-F5344CB8AC3E}">
        <p14:creationId xmlns:p14="http://schemas.microsoft.com/office/powerpoint/2010/main" val="34241518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4882" y="1911179"/>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Sequence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sequence diagram in Unified Modelling Language (UML) is a kind of interaction diagram that shows how processes operate with one another and in what order. It is a construct of a Message Sequence Chart. Sequence diagrams are sometimes called event diagrams, event scenarios, and timing diagrams.</a:t>
            </a:r>
          </a:p>
          <a:p>
            <a:pPr marL="342900" lvl="0" indent="-342900" algn="just">
              <a:lnSpc>
                <a:spcPct val="150000"/>
              </a:lnSpc>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0366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0993" y="6109791"/>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Sequence diagram</a:t>
            </a:r>
          </a:p>
        </p:txBody>
      </p:sp>
      <p:pic>
        <p:nvPicPr>
          <p:cNvPr id="5" name="Picture 4" descr="C:\Users\0598\vpworkspace\Sequence Diagram1.jpg"/>
          <p:cNvPicPr/>
          <p:nvPr/>
        </p:nvPicPr>
        <p:blipFill>
          <a:blip r:embed="rId2">
            <a:extLst>
              <a:ext uri="{28A0092B-C50C-407E-A947-70E740481C1C}">
                <a14:useLocalDpi xmlns:a14="http://schemas.microsoft.com/office/drawing/2010/main" val="0"/>
              </a:ext>
            </a:extLst>
          </a:blip>
          <a:srcRect/>
          <a:stretch>
            <a:fillRect/>
          </a:stretch>
        </p:blipFill>
        <p:spPr bwMode="auto">
          <a:xfrm>
            <a:off x="3230244" y="1642475"/>
            <a:ext cx="5731510" cy="4245610"/>
          </a:xfrm>
          <a:prstGeom prst="rect">
            <a:avLst/>
          </a:prstGeom>
          <a:noFill/>
          <a:ln>
            <a:noFill/>
          </a:ln>
        </p:spPr>
      </p:pic>
    </p:spTree>
    <p:extLst>
      <p:ext uri="{BB962C8B-B14F-4D97-AF65-F5344CB8AC3E}">
        <p14:creationId xmlns:p14="http://schemas.microsoft.com/office/powerpoint/2010/main" val="22602381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3268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Collaboration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p>
        </p:txBody>
      </p:sp>
    </p:spTree>
    <p:extLst>
      <p:ext uri="{BB962C8B-B14F-4D97-AF65-F5344CB8AC3E}">
        <p14:creationId xmlns:p14="http://schemas.microsoft.com/office/powerpoint/2010/main" val="30963352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7201" y="5000144"/>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Collaboration diagram</a:t>
            </a:r>
          </a:p>
        </p:txBody>
      </p:sp>
      <p:pic>
        <p:nvPicPr>
          <p:cNvPr id="5" name="Picture 4" descr="C:\Users\0598\vpworkspace\Sequence Diagram1 - Communications.jpg"/>
          <p:cNvPicPr/>
          <p:nvPr/>
        </p:nvPicPr>
        <p:blipFill>
          <a:blip r:embed="rId2">
            <a:extLst>
              <a:ext uri="{28A0092B-C50C-407E-A947-70E740481C1C}">
                <a14:useLocalDpi xmlns:a14="http://schemas.microsoft.com/office/drawing/2010/main" val="0"/>
              </a:ext>
            </a:extLst>
          </a:blip>
          <a:srcRect/>
          <a:stretch>
            <a:fillRect/>
          </a:stretch>
        </p:blipFill>
        <p:spPr bwMode="auto">
          <a:xfrm>
            <a:off x="3692382" y="1561619"/>
            <a:ext cx="4819650" cy="3438525"/>
          </a:xfrm>
          <a:prstGeom prst="rect">
            <a:avLst/>
          </a:prstGeom>
          <a:noFill/>
          <a:ln>
            <a:noFill/>
          </a:ln>
        </p:spPr>
      </p:pic>
    </p:spTree>
    <p:extLst>
      <p:ext uri="{BB962C8B-B14F-4D97-AF65-F5344CB8AC3E}">
        <p14:creationId xmlns:p14="http://schemas.microsoft.com/office/powerpoint/2010/main" val="9869847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34532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Deployment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p>
        </p:txBody>
      </p:sp>
    </p:spTree>
    <p:extLst>
      <p:ext uri="{BB962C8B-B14F-4D97-AF65-F5344CB8AC3E}">
        <p14:creationId xmlns:p14="http://schemas.microsoft.com/office/powerpoint/2010/main" val="5824385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7201" y="5000144"/>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Deployment diagram</a:t>
            </a:r>
          </a:p>
        </p:txBody>
      </p:sp>
      <p:pic>
        <p:nvPicPr>
          <p:cNvPr id="5" name="Picture 4" descr="C:\Users\0598\vpworkspace\Deployment Diagram1.jpg"/>
          <p:cNvPicPr/>
          <p:nvPr/>
        </p:nvPicPr>
        <p:blipFill>
          <a:blip r:embed="rId2">
            <a:extLst>
              <a:ext uri="{28A0092B-C50C-407E-A947-70E740481C1C}">
                <a14:useLocalDpi xmlns:a14="http://schemas.microsoft.com/office/drawing/2010/main" val="0"/>
              </a:ext>
            </a:extLst>
          </a:blip>
          <a:srcRect/>
          <a:stretch>
            <a:fillRect/>
          </a:stretch>
        </p:blipFill>
        <p:spPr bwMode="auto">
          <a:xfrm>
            <a:off x="4114800" y="2066925"/>
            <a:ext cx="3962400" cy="2724150"/>
          </a:xfrm>
          <a:prstGeom prst="rect">
            <a:avLst/>
          </a:prstGeom>
          <a:noFill/>
          <a:ln>
            <a:noFill/>
          </a:ln>
        </p:spPr>
      </p:pic>
    </p:spTree>
    <p:extLst>
      <p:ext uri="{BB962C8B-B14F-4D97-AF65-F5344CB8AC3E}">
        <p14:creationId xmlns:p14="http://schemas.microsoft.com/office/powerpoint/2010/main" val="15998397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Activity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p>
        </p:txBody>
      </p:sp>
    </p:spTree>
    <p:extLst>
      <p:ext uri="{BB962C8B-B14F-4D97-AF65-F5344CB8AC3E}">
        <p14:creationId xmlns:p14="http://schemas.microsoft.com/office/powerpoint/2010/main" val="1720225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06731" y="6168053"/>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Activity diagram</a:t>
            </a:r>
          </a:p>
        </p:txBody>
      </p:sp>
      <p:pic>
        <p:nvPicPr>
          <p:cNvPr id="5" name="Picture 4" descr="C:\Users\0598\vpworkspace\Activity Diagram1.jpg"/>
          <p:cNvPicPr/>
          <p:nvPr/>
        </p:nvPicPr>
        <p:blipFill>
          <a:blip r:embed="rId2">
            <a:extLst>
              <a:ext uri="{28A0092B-C50C-407E-A947-70E740481C1C}">
                <a14:useLocalDpi xmlns:a14="http://schemas.microsoft.com/office/drawing/2010/main" val="0"/>
              </a:ext>
            </a:extLst>
          </a:blip>
          <a:srcRect/>
          <a:stretch>
            <a:fillRect/>
          </a:stretch>
        </p:blipFill>
        <p:spPr bwMode="auto">
          <a:xfrm>
            <a:off x="4162425" y="1737360"/>
            <a:ext cx="3867150" cy="4244340"/>
          </a:xfrm>
          <a:prstGeom prst="rect">
            <a:avLst/>
          </a:prstGeom>
          <a:noFill/>
          <a:ln>
            <a:noFill/>
          </a:ln>
        </p:spPr>
      </p:pic>
    </p:spTree>
    <p:extLst>
      <p:ext uri="{BB962C8B-B14F-4D97-AF65-F5344CB8AC3E}">
        <p14:creationId xmlns:p14="http://schemas.microsoft.com/office/powerpoint/2010/main" val="5388595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400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Component Diagram</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sz="20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2000" b="1" dirty="0">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functions is covered by planned development.</a:t>
            </a:r>
          </a:p>
        </p:txBody>
      </p:sp>
    </p:spTree>
    <p:extLst>
      <p:ext uri="{BB962C8B-B14F-4D97-AF65-F5344CB8AC3E}">
        <p14:creationId xmlns:p14="http://schemas.microsoft.com/office/powerpoint/2010/main" val="1427746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41341" y="528846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Component diagram</a:t>
            </a:r>
          </a:p>
        </p:txBody>
      </p:sp>
      <p:pic>
        <p:nvPicPr>
          <p:cNvPr id="5" name="Picture 4" descr="C:\Users\0598\vpworkspace\Component Diagram1.jpg"/>
          <p:cNvPicPr/>
          <p:nvPr/>
        </p:nvPicPr>
        <p:blipFill>
          <a:blip r:embed="rId2">
            <a:extLst>
              <a:ext uri="{28A0092B-C50C-407E-A947-70E740481C1C}">
                <a14:useLocalDpi xmlns:a14="http://schemas.microsoft.com/office/drawing/2010/main" val="0"/>
              </a:ext>
            </a:extLst>
          </a:blip>
          <a:srcRect/>
          <a:stretch>
            <a:fillRect/>
          </a:stretch>
        </p:blipFill>
        <p:spPr bwMode="auto">
          <a:xfrm>
            <a:off x="3480772" y="1420769"/>
            <a:ext cx="5391150" cy="3321047"/>
          </a:xfrm>
          <a:prstGeom prst="rect">
            <a:avLst/>
          </a:prstGeom>
          <a:noFill/>
          <a:ln>
            <a:noFill/>
          </a:ln>
        </p:spPr>
      </p:pic>
    </p:spTree>
    <p:extLst>
      <p:ext uri="{BB962C8B-B14F-4D97-AF65-F5344CB8AC3E}">
        <p14:creationId xmlns:p14="http://schemas.microsoft.com/office/powerpoint/2010/main" val="20991593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963827" y="1470197"/>
            <a:ext cx="10536194" cy="47089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ER Diagram:</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p>
        </p:txBody>
      </p:sp>
    </p:spTree>
    <p:extLst>
      <p:ext uri="{BB962C8B-B14F-4D97-AF65-F5344CB8AC3E}">
        <p14:creationId xmlns:p14="http://schemas.microsoft.com/office/powerpoint/2010/main" val="12731684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0993" y="6168053"/>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ER diagram</a:t>
            </a:r>
          </a:p>
        </p:txBody>
      </p:sp>
      <p:pic>
        <p:nvPicPr>
          <p:cNvPr id="5" name="Picture 4" descr="C:\Users\0598\Downloads\Untitled Diagram-Page-2.jpg"/>
          <p:cNvPicPr/>
          <p:nvPr/>
        </p:nvPicPr>
        <p:blipFill>
          <a:blip r:embed="rId2">
            <a:extLst>
              <a:ext uri="{28A0092B-C50C-407E-A947-70E740481C1C}">
                <a14:useLocalDpi xmlns:a14="http://schemas.microsoft.com/office/drawing/2010/main" val="0"/>
              </a:ext>
            </a:extLst>
          </a:blip>
          <a:srcRect/>
          <a:stretch>
            <a:fillRect/>
          </a:stretch>
        </p:blipFill>
        <p:spPr bwMode="auto">
          <a:xfrm>
            <a:off x="3230245" y="1629092"/>
            <a:ext cx="5731510" cy="3599815"/>
          </a:xfrm>
          <a:prstGeom prst="rect">
            <a:avLst/>
          </a:prstGeom>
          <a:noFill/>
          <a:ln>
            <a:noFill/>
          </a:ln>
        </p:spPr>
      </p:pic>
    </p:spTree>
    <p:extLst>
      <p:ext uri="{BB962C8B-B14F-4D97-AF65-F5344CB8AC3E}">
        <p14:creationId xmlns:p14="http://schemas.microsoft.com/office/powerpoint/2010/main" val="17120039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276865" y="1692618"/>
            <a:ext cx="9737124" cy="3785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DFD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p>
        </p:txBody>
      </p:sp>
    </p:spTree>
    <p:extLst>
      <p:ext uri="{BB962C8B-B14F-4D97-AF65-F5344CB8AC3E}">
        <p14:creationId xmlns:p14="http://schemas.microsoft.com/office/powerpoint/2010/main" val="19636286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BE7079-BE59-4DEB-A332-4AD487E688C3}"/>
              </a:ext>
            </a:extLst>
          </p:cNvPr>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Rectangle 3">
            <a:extLst>
              <a:ext uri="{FF2B5EF4-FFF2-40B4-BE49-F238E27FC236}">
                <a16:creationId xmlns:a16="http://schemas.microsoft.com/office/drawing/2014/main" id="{9F6A5F40-CA01-41D5-8C0E-86E2EF8FB81E}"/>
              </a:ext>
            </a:extLst>
          </p:cNvPr>
          <p:cNvSpPr/>
          <p:nvPr/>
        </p:nvSpPr>
        <p:spPr>
          <a:xfrm>
            <a:off x="5076238" y="5252563"/>
            <a:ext cx="2649123" cy="369332"/>
          </a:xfrm>
          <a:prstGeom prst="rect">
            <a:avLst/>
          </a:prstGeom>
        </p:spPr>
        <p:txBody>
          <a:bodyPr wrap="none">
            <a:spAutoFit/>
          </a:bodyPr>
          <a:lstStyle/>
          <a:p>
            <a:pPr algn="ctr"/>
            <a:r>
              <a:rPr lang="en-US" b="1" dirty="0">
                <a:latin typeface="Times New Roman" panose="02020603050405020304" pitchFamily="18" charset="0"/>
                <a:cs typeface="Times New Roman" panose="02020603050405020304" pitchFamily="18" charset="0"/>
              </a:rPr>
              <a:t>Figure : Level-0 diagram</a:t>
            </a:r>
          </a:p>
        </p:txBody>
      </p:sp>
      <p:pic>
        <p:nvPicPr>
          <p:cNvPr id="5" name="Picture 4" descr="C:\Users\0598\vpworkspace\Data Flow Diagram1.jpg"/>
          <p:cNvPicPr/>
          <p:nvPr/>
        </p:nvPicPr>
        <p:blipFill>
          <a:blip r:embed="rId2">
            <a:extLst>
              <a:ext uri="{28A0092B-C50C-407E-A947-70E740481C1C}">
                <a14:useLocalDpi xmlns:a14="http://schemas.microsoft.com/office/drawing/2010/main" val="0"/>
              </a:ext>
            </a:extLst>
          </a:blip>
          <a:srcRect/>
          <a:stretch>
            <a:fillRect/>
          </a:stretch>
        </p:blipFill>
        <p:spPr bwMode="auto">
          <a:xfrm>
            <a:off x="4067175" y="2305050"/>
            <a:ext cx="4057650" cy="2247900"/>
          </a:xfrm>
          <a:prstGeom prst="rect">
            <a:avLst/>
          </a:prstGeom>
          <a:noFill/>
          <a:ln>
            <a:noFill/>
          </a:ln>
        </p:spPr>
      </p:pic>
    </p:spTree>
    <p:extLst>
      <p:ext uri="{BB962C8B-B14F-4D97-AF65-F5344CB8AC3E}">
        <p14:creationId xmlns:p14="http://schemas.microsoft.com/office/powerpoint/2010/main" val="32331466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54593" y="636810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FigureLevel-1 diagram</a:t>
            </a:r>
          </a:p>
        </p:txBody>
      </p:sp>
      <p:pic>
        <p:nvPicPr>
          <p:cNvPr id="5" name="Picture 4" descr="C:\Users\0598\vpworkspace\Data Flow Diagram1.jpg"/>
          <p:cNvPicPr/>
          <p:nvPr/>
        </p:nvPicPr>
        <p:blipFill>
          <a:blip r:embed="rId2">
            <a:extLst>
              <a:ext uri="{28A0092B-C50C-407E-A947-70E740481C1C}">
                <a14:useLocalDpi xmlns:a14="http://schemas.microsoft.com/office/drawing/2010/main" val="0"/>
              </a:ext>
            </a:extLst>
          </a:blip>
          <a:srcRect/>
          <a:stretch>
            <a:fillRect/>
          </a:stretch>
        </p:blipFill>
        <p:spPr bwMode="auto">
          <a:xfrm>
            <a:off x="3256371" y="1887900"/>
            <a:ext cx="5731510" cy="3572374"/>
          </a:xfrm>
          <a:prstGeom prst="rect">
            <a:avLst/>
          </a:prstGeom>
          <a:noFill/>
          <a:ln>
            <a:noFill/>
          </a:ln>
        </p:spPr>
      </p:pic>
    </p:spTree>
    <p:extLst>
      <p:ext uri="{BB962C8B-B14F-4D97-AF65-F5344CB8AC3E}">
        <p14:creationId xmlns:p14="http://schemas.microsoft.com/office/powerpoint/2010/main" val="16667931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59691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155811" y="6168053"/>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Figure:Level-2 diagram</a:t>
            </a:r>
          </a:p>
        </p:txBody>
      </p:sp>
      <p:pic>
        <p:nvPicPr>
          <p:cNvPr id="5" name="Picture 4" descr="C:\Users\0598\vpworkspace\Data Flow Diagram1.jpg"/>
          <p:cNvPicPr/>
          <p:nvPr/>
        </p:nvPicPr>
        <p:blipFill>
          <a:blip r:embed="rId2">
            <a:extLst>
              <a:ext uri="{28A0092B-C50C-407E-A947-70E740481C1C}">
                <a14:useLocalDpi xmlns:a14="http://schemas.microsoft.com/office/drawing/2010/main" val="0"/>
              </a:ext>
            </a:extLst>
          </a:blip>
          <a:srcRect/>
          <a:stretch>
            <a:fillRect/>
          </a:stretch>
        </p:blipFill>
        <p:spPr bwMode="auto">
          <a:xfrm>
            <a:off x="3230245" y="1938655"/>
            <a:ext cx="5731510" cy="2980690"/>
          </a:xfrm>
          <a:prstGeom prst="rect">
            <a:avLst/>
          </a:prstGeom>
          <a:noFill/>
          <a:ln>
            <a:noFill/>
          </a:ln>
        </p:spPr>
      </p:pic>
    </p:spTree>
    <p:extLst>
      <p:ext uri="{BB962C8B-B14F-4D97-AF65-F5344CB8AC3E}">
        <p14:creationId xmlns:p14="http://schemas.microsoft.com/office/powerpoint/2010/main" val="11792352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6102" y="130629"/>
            <a:ext cx="5029200" cy="646331"/>
          </a:xfrm>
          <a:prstGeom prst="rect">
            <a:avLst/>
          </a:prstGeom>
          <a:noFill/>
        </p:spPr>
        <p:txBody>
          <a:bodyPr wrap="square" rtlCol="0">
            <a:spAutoFit/>
          </a:bodyPr>
          <a:lstStyle/>
          <a:p>
            <a:pPr algn="ctr"/>
            <a:r>
              <a:rPr lang="en-US" sz="3600" b="1" dirty="0" smtClean="0">
                <a:latin typeface="Times New Roman" panose="02020603050405020304" pitchFamily="18" charset="0"/>
                <a:cs typeface="Times New Roman" panose="02020603050405020304" pitchFamily="18" charset="0"/>
              </a:rPr>
              <a:t>Output Screens</a:t>
            </a:r>
            <a:endParaRPr lang="en-IN" sz="3600" b="1" dirty="0">
              <a:latin typeface="Times New Roman" panose="02020603050405020304" pitchFamily="18" charset="0"/>
              <a:cs typeface="Times New Roman" panose="02020603050405020304" pitchFamily="18" charset="0"/>
            </a:endParaRPr>
          </a:p>
        </p:txBody>
      </p:sp>
      <p:sp>
        <p:nvSpPr>
          <p:cNvPr id="7" name="Rectangle 2"/>
          <p:cNvSpPr>
            <a:spLocks noChangeArrowheads="1"/>
          </p:cNvSpPr>
          <p:nvPr/>
        </p:nvSpPr>
        <p:spPr bwMode="auto">
          <a:xfrm>
            <a:off x="1149531" y="99277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smtClean="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Home page:</a:t>
            </a:r>
            <a:r>
              <a:rPr kumimoji="0" lang="en-US" altLang="en-US" sz="1100" b="0"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kumimoji="0" lang="en-US" altLang="en-US" sz="1200" b="0" i="0" u="none" strike="noStrike" cap="none" normalizeH="0" baseline="0" smtClean="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Revolutionizing Cloud Data Security with Elliptic Curve Cryptography home page.</a:t>
            </a:r>
            <a:endParaRPr kumimoji="0" lang="en-US"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1025"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9531" y="1665795"/>
            <a:ext cx="9115548" cy="442149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1149531" y="423127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6102" y="130629"/>
            <a:ext cx="5029200" cy="646331"/>
          </a:xfrm>
          <a:prstGeom prst="rect">
            <a:avLst/>
          </a:prstGeom>
          <a:noFill/>
        </p:spPr>
        <p:txBody>
          <a:bodyPr wrap="square" rtlCol="0">
            <a:spAutoFit/>
          </a:bodyPr>
          <a:lstStyle/>
          <a:p>
            <a:pPr algn="ctr"/>
            <a:r>
              <a:rPr lang="en-US" sz="3600" b="1" dirty="0" smtClean="0">
                <a:latin typeface="Times New Roman" panose="02020603050405020304" pitchFamily="18" charset="0"/>
                <a:cs typeface="Times New Roman" panose="02020603050405020304" pitchFamily="18" charset="0"/>
              </a:rPr>
              <a:t>Output Screens</a:t>
            </a:r>
            <a:endParaRPr lang="en-IN" sz="3600" b="1"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1084217" y="105809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Register:</a:t>
            </a:r>
            <a:r>
              <a:rPr kumimoji="0" lang="en-US" altLang="en-US" sz="1200" b="0"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Data owner can register into website by entering details. </a:t>
            </a:r>
            <a:endParaRPr kumimoji="0" lang="en-US"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2049"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3427" y="1998616"/>
            <a:ext cx="8634549" cy="387966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1084217" y="425849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1244904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6102" y="130629"/>
            <a:ext cx="5029200" cy="646331"/>
          </a:xfrm>
          <a:prstGeom prst="rect">
            <a:avLst/>
          </a:prstGeom>
          <a:noFill/>
        </p:spPr>
        <p:txBody>
          <a:bodyPr wrap="square" rtlCol="0">
            <a:spAutoFit/>
          </a:bodyPr>
          <a:lstStyle/>
          <a:p>
            <a:pPr algn="ctr"/>
            <a:r>
              <a:rPr lang="en-US" sz="3600" b="1" dirty="0" smtClean="0">
                <a:latin typeface="Times New Roman" panose="02020603050405020304" pitchFamily="18" charset="0"/>
                <a:cs typeface="Times New Roman" panose="02020603050405020304" pitchFamily="18" charset="0"/>
              </a:rPr>
              <a:t>Output Screens</a:t>
            </a:r>
            <a:endParaRPr lang="en-IN" sz="3600" b="1"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600892" y="108421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Login:</a:t>
            </a:r>
            <a:r>
              <a:rPr kumimoji="0" lang="en-US" altLang="en-US" sz="1200" b="0"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He can login into website by entering their credentials.(after admin authorized)</a:t>
            </a:r>
            <a:endParaRPr kumimoji="0" lang="en-US"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3073"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348" y="1541417"/>
            <a:ext cx="8778239" cy="438912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600892" y="418936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8431667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6102" y="130629"/>
            <a:ext cx="5029200" cy="646331"/>
          </a:xfrm>
          <a:prstGeom prst="rect">
            <a:avLst/>
          </a:prstGeom>
          <a:noFill/>
        </p:spPr>
        <p:txBody>
          <a:bodyPr wrap="square" rtlCol="0">
            <a:spAutoFit/>
          </a:bodyPr>
          <a:lstStyle/>
          <a:p>
            <a:pPr algn="ctr"/>
            <a:r>
              <a:rPr lang="en-US" sz="3600" b="1" dirty="0" smtClean="0">
                <a:latin typeface="Times New Roman" panose="02020603050405020304" pitchFamily="18" charset="0"/>
                <a:cs typeface="Times New Roman" panose="02020603050405020304" pitchFamily="18" charset="0"/>
              </a:rPr>
              <a:t>Output Screens</a:t>
            </a:r>
            <a:endParaRPr lang="en-IN" sz="3600" b="1"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709077" y="112149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Owner Home Page:</a:t>
            </a:r>
            <a:endParaRPr kumimoji="0" lang="en-US" alt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4097" name="Picture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077" y="2246811"/>
            <a:ext cx="8147540" cy="401029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0" y="32575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42235472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6102" y="130629"/>
            <a:ext cx="5029200" cy="646331"/>
          </a:xfrm>
          <a:prstGeom prst="rect">
            <a:avLst/>
          </a:prstGeom>
          <a:noFill/>
        </p:spPr>
        <p:txBody>
          <a:bodyPr wrap="square" rtlCol="0">
            <a:spAutoFit/>
          </a:bodyPr>
          <a:lstStyle/>
          <a:p>
            <a:pPr algn="ctr"/>
            <a:r>
              <a:rPr lang="en-US" sz="3600" b="1" dirty="0" smtClean="0">
                <a:latin typeface="Times New Roman" panose="02020603050405020304" pitchFamily="18" charset="0"/>
                <a:cs typeface="Times New Roman" panose="02020603050405020304" pitchFamily="18" charset="0"/>
              </a:rPr>
              <a:t>Output Screens</a:t>
            </a:r>
            <a:endParaRPr lang="en-IN" sz="3600" b="1"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535577" y="112340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Upload files:</a:t>
            </a:r>
            <a:r>
              <a:rPr kumimoji="0" lang="en-US" altLang="en-US" sz="1200" b="0"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Here he can upload their files into website and he can encrypt that file using ECC. </a:t>
            </a:r>
            <a:endParaRPr kumimoji="0" lang="en-US"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5121" name="Picture 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577" y="1580604"/>
            <a:ext cx="9875520" cy="509451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535577" y="380945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7693980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6102" y="130629"/>
            <a:ext cx="5029200" cy="646331"/>
          </a:xfrm>
          <a:prstGeom prst="rect">
            <a:avLst/>
          </a:prstGeom>
          <a:noFill/>
        </p:spPr>
        <p:txBody>
          <a:bodyPr wrap="square" rtlCol="0">
            <a:spAutoFit/>
          </a:bodyPr>
          <a:lstStyle/>
          <a:p>
            <a:pPr algn="ctr"/>
            <a:r>
              <a:rPr lang="en-US" sz="3600" b="1" dirty="0" smtClean="0">
                <a:latin typeface="Times New Roman" panose="02020603050405020304" pitchFamily="18" charset="0"/>
                <a:cs typeface="Times New Roman" panose="02020603050405020304" pitchFamily="18" charset="0"/>
              </a:rPr>
              <a:t>Output Screens</a:t>
            </a:r>
            <a:endParaRPr lang="en-IN" sz="3600" b="1"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1188720" y="147610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View files:</a:t>
            </a:r>
            <a:r>
              <a:rPr kumimoji="0" lang="en-US" altLang="en-US" sz="1200" b="0"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here he can view their files. </a:t>
            </a:r>
            <a:endParaRPr kumimoji="0" lang="en-US"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6145" name="Picture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589" y="2312124"/>
            <a:ext cx="8974182" cy="374904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1188720" y="423835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5361355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6102" y="130629"/>
            <a:ext cx="5029200" cy="646331"/>
          </a:xfrm>
          <a:prstGeom prst="rect">
            <a:avLst/>
          </a:prstGeom>
          <a:noFill/>
        </p:spPr>
        <p:txBody>
          <a:bodyPr wrap="square" rtlCol="0">
            <a:spAutoFit/>
          </a:bodyPr>
          <a:lstStyle/>
          <a:p>
            <a:pPr algn="ctr"/>
            <a:r>
              <a:rPr lang="en-US" sz="3600" b="1" dirty="0" smtClean="0">
                <a:latin typeface="Times New Roman" panose="02020603050405020304" pitchFamily="18" charset="0"/>
                <a:cs typeface="Times New Roman" panose="02020603050405020304" pitchFamily="18" charset="0"/>
              </a:rPr>
              <a:t>Output Screens</a:t>
            </a:r>
            <a:endParaRPr lang="en-IN" sz="3600" b="1"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1058091" y="126709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Data User: </a:t>
            </a:r>
            <a:endParaRPr kumimoji="0" lang="en-US"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Register:</a:t>
            </a:r>
            <a:r>
              <a:rPr kumimoji="0" lang="en-US" altLang="en-US" sz="1200" b="0"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Data user can register into website by entering details. </a:t>
            </a:r>
            <a:endParaRPr kumimoji="0" lang="en-US"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7169"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8091" y="1724298"/>
            <a:ext cx="8961120" cy="406254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1058091" y="44674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8121999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6102" y="130629"/>
            <a:ext cx="5029200" cy="646331"/>
          </a:xfrm>
          <a:prstGeom prst="rect">
            <a:avLst/>
          </a:prstGeom>
          <a:noFill/>
        </p:spPr>
        <p:txBody>
          <a:bodyPr wrap="square" rtlCol="0">
            <a:spAutoFit/>
          </a:bodyPr>
          <a:lstStyle/>
          <a:p>
            <a:pPr algn="ctr"/>
            <a:r>
              <a:rPr lang="en-US" sz="3600" b="1" dirty="0" smtClean="0">
                <a:latin typeface="Times New Roman" panose="02020603050405020304" pitchFamily="18" charset="0"/>
                <a:cs typeface="Times New Roman" panose="02020603050405020304" pitchFamily="18" charset="0"/>
              </a:rPr>
              <a:t>Output Screens</a:t>
            </a:r>
            <a:endParaRPr lang="en-IN" sz="3600" b="1"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496389" y="118872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Login:</a:t>
            </a:r>
            <a:r>
              <a:rPr kumimoji="0" lang="en-US" altLang="en-US" sz="1200" b="0"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He can login into website by entering their credentials.(after admin authorized) </a:t>
            </a:r>
            <a:endParaRPr kumimoji="0" lang="en-US"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8193" name="Picture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389" y="1645920"/>
            <a:ext cx="8569234" cy="446749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496389" y="439864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2604531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6102" y="130629"/>
            <a:ext cx="5029200" cy="646331"/>
          </a:xfrm>
          <a:prstGeom prst="rect">
            <a:avLst/>
          </a:prstGeom>
          <a:noFill/>
        </p:spPr>
        <p:txBody>
          <a:bodyPr wrap="square" rtlCol="0">
            <a:spAutoFit/>
          </a:bodyPr>
          <a:lstStyle/>
          <a:p>
            <a:pPr algn="ctr"/>
            <a:r>
              <a:rPr lang="en-US" sz="3600" b="1" dirty="0" smtClean="0">
                <a:latin typeface="Times New Roman" panose="02020603050405020304" pitchFamily="18" charset="0"/>
                <a:cs typeface="Times New Roman" panose="02020603050405020304" pitchFamily="18" charset="0"/>
              </a:rPr>
              <a:t>Output Screens</a:t>
            </a:r>
            <a:endParaRPr lang="en-IN" sz="3600" b="1"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709077" y="152835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User Home Page:</a:t>
            </a:r>
            <a:endParaRPr kumimoji="0" lang="en-US"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9217" name="Picture 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077" y="1985554"/>
            <a:ext cx="9061940" cy="434993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709077" y="455730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0397461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6102" y="130629"/>
            <a:ext cx="5029200" cy="646331"/>
          </a:xfrm>
          <a:prstGeom prst="rect">
            <a:avLst/>
          </a:prstGeom>
          <a:noFill/>
        </p:spPr>
        <p:txBody>
          <a:bodyPr wrap="square" rtlCol="0">
            <a:spAutoFit/>
          </a:bodyPr>
          <a:lstStyle/>
          <a:p>
            <a:pPr algn="ctr"/>
            <a:r>
              <a:rPr lang="en-US" sz="3600" b="1" dirty="0" smtClean="0">
                <a:latin typeface="Times New Roman" panose="02020603050405020304" pitchFamily="18" charset="0"/>
                <a:cs typeface="Times New Roman" panose="02020603050405020304" pitchFamily="18" charset="0"/>
              </a:rPr>
              <a:t>Output Screens</a:t>
            </a:r>
            <a:endParaRPr lang="en-IN" sz="3600" b="1"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574765" y="120178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View files:</a:t>
            </a:r>
            <a:r>
              <a:rPr kumimoji="0" lang="en-US" altLang="en-US" sz="1200" b="0"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He can view the file and send a file request to data owner. </a:t>
            </a:r>
            <a:endParaRPr kumimoji="0" lang="en-US"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10241" name="Picture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765" y="1658983"/>
            <a:ext cx="9522824" cy="387966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574765" y="380210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7320574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6102" y="130629"/>
            <a:ext cx="5029200" cy="646331"/>
          </a:xfrm>
          <a:prstGeom prst="rect">
            <a:avLst/>
          </a:prstGeom>
          <a:noFill/>
        </p:spPr>
        <p:txBody>
          <a:bodyPr wrap="square" rtlCol="0">
            <a:spAutoFit/>
          </a:bodyPr>
          <a:lstStyle/>
          <a:p>
            <a:pPr algn="ctr"/>
            <a:r>
              <a:rPr lang="en-US" sz="3600" b="1" dirty="0" smtClean="0">
                <a:latin typeface="Times New Roman" panose="02020603050405020304" pitchFamily="18" charset="0"/>
                <a:cs typeface="Times New Roman" panose="02020603050405020304" pitchFamily="18" charset="0"/>
              </a:rPr>
              <a:t>Output Screens</a:t>
            </a:r>
            <a:endParaRPr lang="en-IN" sz="3600" b="1"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1071155" y="158060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View response:</a:t>
            </a:r>
            <a:r>
              <a:rPr kumimoji="0" lang="en-US" altLang="en-US" sz="1200" b="0"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here he can view the requested file response. </a:t>
            </a:r>
            <a:endParaRPr kumimoji="0" lang="en-US"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11265" name="Picture 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154" y="2037805"/>
            <a:ext cx="9052559" cy="428461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1071155" y="4438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4190227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6102" y="130629"/>
            <a:ext cx="5029200" cy="646331"/>
          </a:xfrm>
          <a:prstGeom prst="rect">
            <a:avLst/>
          </a:prstGeom>
          <a:noFill/>
        </p:spPr>
        <p:txBody>
          <a:bodyPr wrap="square" rtlCol="0">
            <a:spAutoFit/>
          </a:bodyPr>
          <a:lstStyle/>
          <a:p>
            <a:pPr algn="ctr"/>
            <a:r>
              <a:rPr lang="en-US" sz="3600" b="1" dirty="0" smtClean="0">
                <a:latin typeface="Times New Roman" panose="02020603050405020304" pitchFamily="18" charset="0"/>
                <a:cs typeface="Times New Roman" panose="02020603050405020304" pitchFamily="18" charset="0"/>
              </a:rPr>
              <a:t>Output Screens</a:t>
            </a:r>
            <a:endParaRPr lang="en-IN" sz="3600" b="1"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709077" y="109728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Download file:</a:t>
            </a:r>
            <a:r>
              <a:rPr kumimoji="0" lang="en-US" altLang="en-US" sz="1200" b="0"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he can download the file by using the key. </a:t>
            </a:r>
            <a:endParaRPr kumimoji="0" lang="en-US"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12289" name="Picture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077" y="1554480"/>
            <a:ext cx="9035814" cy="463731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709077" y="424053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41829651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6102" y="130629"/>
            <a:ext cx="5029200" cy="646331"/>
          </a:xfrm>
          <a:prstGeom prst="rect">
            <a:avLst/>
          </a:prstGeom>
          <a:noFill/>
        </p:spPr>
        <p:txBody>
          <a:bodyPr wrap="square" rtlCol="0">
            <a:spAutoFit/>
          </a:bodyPr>
          <a:lstStyle/>
          <a:p>
            <a:pPr algn="ctr"/>
            <a:r>
              <a:rPr lang="en-US" sz="3600" b="1" dirty="0" smtClean="0">
                <a:latin typeface="Times New Roman" panose="02020603050405020304" pitchFamily="18" charset="0"/>
                <a:cs typeface="Times New Roman" panose="02020603050405020304" pitchFamily="18" charset="0"/>
              </a:rPr>
              <a:t>Output Screens</a:t>
            </a:r>
            <a:endParaRPr lang="en-IN" sz="3600" b="1"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888274" y="151529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Cloud:</a:t>
            </a:r>
            <a:r>
              <a:rPr kumimoji="0" lang="en-US" altLang="en-US" sz="1200" b="0"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Login:</a:t>
            </a:r>
            <a:r>
              <a:rPr kumimoji="0" lang="en-US" altLang="en-US" sz="1200" b="0"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He can login into website by entering their credentials. </a:t>
            </a:r>
            <a:endParaRPr kumimoji="0" lang="en-US"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13313" name="Picture 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3405" y="1972491"/>
            <a:ext cx="8765178" cy="432380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888274" y="47061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42364154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6102" y="130629"/>
            <a:ext cx="5029200" cy="646331"/>
          </a:xfrm>
          <a:prstGeom prst="rect">
            <a:avLst/>
          </a:prstGeom>
          <a:noFill/>
        </p:spPr>
        <p:txBody>
          <a:bodyPr wrap="square" rtlCol="0">
            <a:spAutoFit/>
          </a:bodyPr>
          <a:lstStyle/>
          <a:p>
            <a:pPr algn="ctr"/>
            <a:r>
              <a:rPr lang="en-US" sz="3600" b="1" dirty="0" smtClean="0">
                <a:latin typeface="Times New Roman" panose="02020603050405020304" pitchFamily="18" charset="0"/>
                <a:cs typeface="Times New Roman" panose="02020603050405020304" pitchFamily="18" charset="0"/>
              </a:rPr>
              <a:t>Output Screens</a:t>
            </a:r>
            <a:endParaRPr lang="en-IN" sz="3600" b="1"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1005840" y="112340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Cloud Home Page:</a:t>
            </a:r>
            <a:endParaRPr kumimoji="0" lang="en-US"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14337"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2411" y="1711234"/>
            <a:ext cx="8321040" cy="415398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1005840" y="429523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9536313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6102" y="130629"/>
            <a:ext cx="5029200" cy="646331"/>
          </a:xfrm>
          <a:prstGeom prst="rect">
            <a:avLst/>
          </a:prstGeom>
          <a:noFill/>
        </p:spPr>
        <p:txBody>
          <a:bodyPr wrap="square" rtlCol="0">
            <a:spAutoFit/>
          </a:bodyPr>
          <a:lstStyle/>
          <a:p>
            <a:pPr algn="ctr"/>
            <a:r>
              <a:rPr lang="en-US" sz="3600" b="1" dirty="0" smtClean="0">
                <a:latin typeface="Times New Roman" panose="02020603050405020304" pitchFamily="18" charset="0"/>
                <a:cs typeface="Times New Roman" panose="02020603050405020304" pitchFamily="18" charset="0"/>
              </a:rPr>
              <a:t>Output Screens</a:t>
            </a:r>
            <a:endParaRPr lang="en-IN" sz="3600" b="1"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378823" y="126709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View and authorize Data owner:</a:t>
            </a:r>
            <a:r>
              <a:rPr kumimoji="0" lang="en-US" altLang="en-US" sz="1200" b="0"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here admin can view the registered owner and he can authorize and unauthorized the owner. </a:t>
            </a:r>
            <a:endParaRPr kumimoji="0" lang="en-US"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15361" name="Picture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823" y="1724297"/>
            <a:ext cx="10032274" cy="416705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378823" y="420079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3277384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6102" y="130629"/>
            <a:ext cx="5029200" cy="646331"/>
          </a:xfrm>
          <a:prstGeom prst="rect">
            <a:avLst/>
          </a:prstGeom>
          <a:noFill/>
        </p:spPr>
        <p:txBody>
          <a:bodyPr wrap="square" rtlCol="0">
            <a:spAutoFit/>
          </a:bodyPr>
          <a:lstStyle/>
          <a:p>
            <a:pPr algn="ctr"/>
            <a:r>
              <a:rPr lang="en-US" sz="3600" b="1" dirty="0" smtClean="0">
                <a:latin typeface="Times New Roman" panose="02020603050405020304" pitchFamily="18" charset="0"/>
                <a:cs typeface="Times New Roman" panose="02020603050405020304" pitchFamily="18" charset="0"/>
              </a:rPr>
              <a:t>Output Screens</a:t>
            </a:r>
            <a:endParaRPr lang="en-IN" sz="3600" b="1"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470262" y="125403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View and authorize Data user:</a:t>
            </a:r>
            <a:r>
              <a:rPr kumimoji="0" lang="en-US" altLang="en-US" sz="1200" b="0" i="0" u="none" strike="noStrike" cap="none" normalizeH="0" baseline="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here admin can view the registered user and he can authorize and unauthorised the user. </a:t>
            </a:r>
            <a:endParaRPr kumimoji="0" lang="en-US"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16385" name="Picture 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262" y="1711234"/>
            <a:ext cx="9313818" cy="4585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470262" y="415915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528129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980358" y="77821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CONCLUSION</a:t>
            </a:r>
          </a:p>
        </p:txBody>
      </p:sp>
      <p:sp>
        <p:nvSpPr>
          <p:cNvPr id="2" name="Rectangle 1"/>
          <p:cNvSpPr/>
          <p:nvPr/>
        </p:nvSpPr>
        <p:spPr>
          <a:xfrm>
            <a:off x="980358" y="1869558"/>
            <a:ext cx="10776213" cy="3787383"/>
          </a:xfrm>
          <a:prstGeom prst="rect">
            <a:avLst/>
          </a:prstGeom>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In an era where data security is paramount, especially in cloud computing and </a:t>
            </a:r>
            <a:r>
              <a:rPr lang="en-US" dirty="0" err="1">
                <a:latin typeface="Times New Roman" panose="02020603050405020304" pitchFamily="18" charset="0"/>
                <a:ea typeface="Calibri" panose="020F0502020204030204" pitchFamily="34" charset="0"/>
                <a:cs typeface="Times New Roman" panose="02020603050405020304" pitchFamily="18" charset="0"/>
              </a:rPr>
              <a:t>IoT</a:t>
            </a:r>
            <a:r>
              <a:rPr lang="en-US" dirty="0">
                <a:latin typeface="Times New Roman" panose="02020603050405020304" pitchFamily="18" charset="0"/>
                <a:ea typeface="Calibri" panose="020F0502020204030204" pitchFamily="34" charset="0"/>
                <a:cs typeface="Times New Roman" panose="02020603050405020304" pitchFamily="18" charset="0"/>
              </a:rPr>
              <a:t> environments, traditional encryption methods like RSA are increasingly challenged by the need for efficiency and scalability. The proposed system, leveraging Elliptic Curve Cryptography (ECC), addresses these challenges by offering strong encryption with significantly smaller key sizes, reducing computational overhead and energy consumption. ECC's ability to deliver robust security while enhancing system performance makes it an ideal solution for modern cloud infrastructures and real-time applications. As the digital landscape continues to evolve, the adoption of ECC represents a forward-thinking approach, ensuring that data remains secure without compromising efficiency. This project underscores the potential of ECC to meet the growing demands for secure, scalable, and efficient encryption in a rapidly advancing technological world.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482073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980358" y="77821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FUTURE ENHANCEMENT</a:t>
            </a:r>
          </a:p>
        </p:txBody>
      </p:sp>
      <p:sp>
        <p:nvSpPr>
          <p:cNvPr id="6" name="Rectangle 5">
            <a:extLst>
              <a:ext uri="{FF2B5EF4-FFF2-40B4-BE49-F238E27FC236}">
                <a16:creationId xmlns:a16="http://schemas.microsoft.com/office/drawing/2014/main" id="{750FCA73-CB85-460B-9B4D-2D62C07ABF27}"/>
              </a:ext>
            </a:extLst>
          </p:cNvPr>
          <p:cNvSpPr/>
          <p:nvPr/>
        </p:nvSpPr>
        <p:spPr>
          <a:xfrm>
            <a:off x="980358" y="2114516"/>
            <a:ext cx="10575538" cy="3782061"/>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Future enhancements to the proposed system could focus on integrating Elliptic Curve Cryptography (ECC) with emerging technologies like quantum-resistant algorithms to further safeguard against future cryptographic threats. Additionally, implementing adaptive encryption techniques that dynamically select the optimal cryptographic method based on system conditions could enhance both security and performance. Expanding the system's compatibility with a wider range of legacy devices and platforms would also increase its adoption. Furthermore, incorporating machine learning algorithms to predict and mitigate potential security breaches in real-time could provide an additional layer of protection. Finally, exploring the use of ECC in decentralized environments like </a:t>
            </a:r>
            <a:r>
              <a:rPr lang="en-US" dirty="0" err="1">
                <a:latin typeface="Times New Roman" panose="02020603050405020304" pitchFamily="18" charset="0"/>
                <a:cs typeface="Times New Roman" panose="02020603050405020304" pitchFamily="18" charset="0"/>
              </a:rPr>
              <a:t>blockchain</a:t>
            </a:r>
            <a:r>
              <a:rPr lang="en-US" dirty="0">
                <a:latin typeface="Times New Roman" panose="02020603050405020304" pitchFamily="18" charset="0"/>
                <a:cs typeface="Times New Roman" panose="02020603050405020304" pitchFamily="18" charset="0"/>
              </a:rPr>
              <a:t> could open new avenues for secure and efficient data management in distributed systems.</a:t>
            </a:r>
          </a:p>
        </p:txBody>
      </p:sp>
    </p:spTree>
    <p:extLst>
      <p:ext uri="{BB962C8B-B14F-4D97-AF65-F5344CB8AC3E}">
        <p14:creationId xmlns:p14="http://schemas.microsoft.com/office/powerpoint/2010/main" val="13459489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59712" y="186191"/>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
        <p:nvSpPr>
          <p:cNvPr id="2" name="Rectangle 1"/>
          <p:cNvSpPr/>
          <p:nvPr/>
        </p:nvSpPr>
        <p:spPr>
          <a:xfrm>
            <a:off x="222067" y="1025030"/>
            <a:ext cx="11273247" cy="5591274"/>
          </a:xfrm>
          <a:prstGeom prst="rect">
            <a:avLst/>
          </a:prstGeom>
        </p:spPr>
        <p:txBody>
          <a:bodyPr wrap="square">
            <a:spAutoFit/>
          </a:bodyPr>
          <a:lstStyle/>
          <a:p>
            <a:pPr marL="457200"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1. R. Lu, X. Yuan, and X. Lin, "Homomorphic Encryption for Cloud Computing: An Overview," IEEE Communications Surveys &amp; Tutorials, vol. 23, no. 4, pp. 2381-2405, 2021.</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2. J. Shen, J. </a:t>
            </a:r>
            <a:r>
              <a:rPr lang="en-IN" dirty="0" err="1">
                <a:latin typeface="Times New Roman" panose="02020603050405020304" pitchFamily="18" charset="0"/>
                <a:ea typeface="Calibri" panose="020F0502020204030204" pitchFamily="34" charset="0"/>
                <a:cs typeface="Times New Roman" panose="02020603050405020304" pitchFamily="18" charset="0"/>
              </a:rPr>
              <a:t>Niu</a:t>
            </a:r>
            <a:r>
              <a:rPr lang="en-IN" dirty="0">
                <a:latin typeface="Times New Roman" panose="02020603050405020304" pitchFamily="18" charset="0"/>
                <a:ea typeface="Calibri" panose="020F0502020204030204" pitchFamily="34" charset="0"/>
                <a:cs typeface="Times New Roman" panose="02020603050405020304" pitchFamily="18" charset="0"/>
              </a:rPr>
              <a:t>, J. Cao, and Y. Mei, "A Survey on Cloud Security Issues and Techniques: Cryptographic and Non-Cryptographic Approaches," IEEE Transactions on Services Computing, vol. 13, no. 3, pp. 434-451, 2020.</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3. X. Kong, J. Wang, and Q. Ni, "Efficient Data Security and Privacy-Preserving Scheme in Cloud Computing," IEEE Access, vol. 10, pp. 24356-24367, 2022.</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4. M. S. Ali, K. K. R. Choo, and S. H. Ahmed, "</a:t>
            </a:r>
            <a:r>
              <a:rPr lang="en-IN" dirty="0" err="1">
                <a:latin typeface="Times New Roman" panose="02020603050405020304" pitchFamily="18" charset="0"/>
                <a:ea typeface="Calibri" panose="020F0502020204030204" pitchFamily="34" charset="0"/>
                <a:cs typeface="Times New Roman" panose="02020603050405020304" pitchFamily="18" charset="0"/>
              </a:rPr>
              <a:t>Blockchain</a:t>
            </a:r>
            <a:r>
              <a:rPr lang="en-IN" dirty="0">
                <a:latin typeface="Times New Roman" panose="02020603050405020304" pitchFamily="18" charset="0"/>
                <a:ea typeface="Calibri" panose="020F0502020204030204" pitchFamily="34" charset="0"/>
                <a:cs typeface="Times New Roman" panose="02020603050405020304" pitchFamily="18" charset="0"/>
              </a:rPr>
              <a:t>-Based Secure Data Storage and Access Control for Cloud Applications," IEEE Transactions on Cloud Computing, vol. 9, no. 3, pp. 1215-1226, 2021.</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5. V. S. </a:t>
            </a:r>
            <a:r>
              <a:rPr lang="en-IN" dirty="0" err="1">
                <a:latin typeface="Times New Roman" panose="02020603050405020304" pitchFamily="18" charset="0"/>
                <a:ea typeface="Calibri" panose="020F0502020204030204" pitchFamily="34" charset="0"/>
                <a:cs typeface="Times New Roman" panose="02020603050405020304" pitchFamily="18" charset="0"/>
              </a:rPr>
              <a:t>Pendyala</a:t>
            </a:r>
            <a:r>
              <a:rPr lang="en-IN" dirty="0">
                <a:latin typeface="Times New Roman" panose="02020603050405020304" pitchFamily="18" charset="0"/>
                <a:ea typeface="Calibri" panose="020F0502020204030204" pitchFamily="34" charset="0"/>
                <a:cs typeface="Times New Roman" panose="02020603050405020304" pitchFamily="18" charset="0"/>
              </a:rPr>
              <a:t>, S. M. </a:t>
            </a:r>
            <a:r>
              <a:rPr lang="en-IN" dirty="0" err="1">
                <a:latin typeface="Times New Roman" panose="02020603050405020304" pitchFamily="18" charset="0"/>
                <a:ea typeface="Calibri" panose="020F0502020204030204" pitchFamily="34" charset="0"/>
                <a:cs typeface="Times New Roman" panose="02020603050405020304" pitchFamily="18" charset="0"/>
              </a:rPr>
              <a:t>Arafath</a:t>
            </a:r>
            <a:r>
              <a:rPr lang="en-IN" dirty="0">
                <a:latin typeface="Times New Roman" panose="02020603050405020304" pitchFamily="18" charset="0"/>
                <a:ea typeface="Calibri" panose="020F0502020204030204" pitchFamily="34" charset="0"/>
                <a:cs typeface="Times New Roman" panose="02020603050405020304" pitchFamily="18" charset="0"/>
              </a:rPr>
              <a:t>, and S. R. Kulkarni, "Elliptic Curve Cryptography for Real-Time Data Encryption in </a:t>
            </a:r>
            <a:r>
              <a:rPr lang="en-IN" dirty="0" err="1">
                <a:latin typeface="Times New Roman" panose="02020603050405020304" pitchFamily="18" charset="0"/>
                <a:ea typeface="Calibri" panose="020F0502020204030204" pitchFamily="34" charset="0"/>
                <a:cs typeface="Times New Roman" panose="02020603050405020304" pitchFamily="18" charset="0"/>
              </a:rPr>
              <a:t>IoT</a:t>
            </a:r>
            <a:r>
              <a:rPr lang="en-IN" dirty="0">
                <a:latin typeface="Times New Roman" panose="02020603050405020304" pitchFamily="18" charset="0"/>
                <a:ea typeface="Calibri" panose="020F0502020204030204" pitchFamily="34" charset="0"/>
                <a:cs typeface="Times New Roman" panose="02020603050405020304" pitchFamily="18" charset="0"/>
              </a:rPr>
              <a:t> and Cloud Computing," IEEE Internet of Things Journal, vol. 8, no. 5, pp. 3615-3623, 2021.</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6. K. Khan and R. </a:t>
            </a:r>
            <a:r>
              <a:rPr lang="en-IN" dirty="0" err="1">
                <a:latin typeface="Times New Roman" panose="02020603050405020304" pitchFamily="18" charset="0"/>
                <a:ea typeface="Calibri" panose="020F0502020204030204" pitchFamily="34" charset="0"/>
                <a:cs typeface="Times New Roman" panose="02020603050405020304" pitchFamily="18" charset="0"/>
              </a:rPr>
              <a:t>Qazi</a:t>
            </a:r>
            <a:r>
              <a:rPr lang="en-IN" dirty="0">
                <a:latin typeface="Times New Roman" panose="02020603050405020304" pitchFamily="18" charset="0"/>
                <a:ea typeface="Calibri" panose="020F0502020204030204" pitchFamily="34" charset="0"/>
                <a:cs typeface="Times New Roman" panose="02020603050405020304" pitchFamily="18" charset="0"/>
              </a:rPr>
              <a:t>, "Data Security in Cloud Computing Using Elliptic Curve Cryptography," International Journal of Computing and Communication Networks, vol. 1, no. 1, pp. 46-52, 2019</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666" y="589815"/>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
        <p:nvSpPr>
          <p:cNvPr id="2" name="Rectangle 1"/>
          <p:cNvSpPr/>
          <p:nvPr/>
        </p:nvSpPr>
        <p:spPr>
          <a:xfrm>
            <a:off x="195941" y="1274716"/>
            <a:ext cx="11469189" cy="6717032"/>
          </a:xfrm>
          <a:prstGeom prst="rect">
            <a:avLst/>
          </a:prstGeom>
        </p:spPr>
        <p:txBody>
          <a:bodyPr wrap="square">
            <a:spAutoFit/>
          </a:bodyPr>
          <a:lstStyle/>
          <a:p>
            <a:pPr marL="457200"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7. V. S. Miller, "Use of Elliptic Curves in Cryptography," in Conference on the Theory and Application of Cryptographic Techniques, 1985, pp. 417-426.</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8. M. -Q. Hong, P. -Y. Wang, and W. -B. Zhao, "Homomorphic Encryption Scheme Based on Elliptic Curve Cryptography for Privacy Protection of Cloud Computing," in IEEE 2nd International Conference on Big Data Security on Cloud (</a:t>
            </a:r>
            <a:r>
              <a:rPr lang="en-IN" dirty="0" err="1">
                <a:latin typeface="Times New Roman" panose="02020603050405020304" pitchFamily="18" charset="0"/>
                <a:ea typeface="Calibri" panose="020F0502020204030204" pitchFamily="34" charset="0"/>
                <a:cs typeface="Times New Roman" panose="02020603050405020304" pitchFamily="18" charset="0"/>
              </a:rPr>
              <a:t>BigDataSecurity</a:t>
            </a:r>
            <a:r>
              <a:rPr lang="en-IN" dirty="0">
                <a:latin typeface="Times New Roman" panose="02020603050405020304" pitchFamily="18" charset="0"/>
                <a:ea typeface="Calibri" panose="020F0502020204030204" pitchFamily="34" charset="0"/>
                <a:cs typeface="Times New Roman" panose="02020603050405020304" pitchFamily="18" charset="0"/>
              </a:rPr>
              <a:t>), High Performance and Smart Computing (HPSC), and Intelligent Data and Security (IDS), 2016, pp. 152-157.</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9. A. Chhabra and S. Arora, "An Elliptic Curve Cryptography Based Encryption Scheme for Securing the Cloud Against Eavesdropping Attacks," in IEEE 3rd International Conference on Collaboration and Internet Computing (CIC), 2017, pp. 243-246.</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10. T. Banerjee and M. A. Hasan, "Energy Efficiency Analysis of Elliptic Curve Based Cryptosystems," in 17th IEEE International Conference on Trust, Security and Privacy in Computing and Communications (</a:t>
            </a:r>
            <a:r>
              <a:rPr lang="en-IN" dirty="0" err="1">
                <a:latin typeface="Times New Roman" panose="02020603050405020304" pitchFamily="18" charset="0"/>
                <a:ea typeface="Calibri" panose="020F0502020204030204" pitchFamily="34" charset="0"/>
                <a:cs typeface="Times New Roman" panose="02020603050405020304" pitchFamily="18" charset="0"/>
              </a:rPr>
              <a:t>TrustCom</a:t>
            </a:r>
            <a:r>
              <a:rPr lang="en-IN" dirty="0">
                <a:latin typeface="Times New Roman" panose="02020603050405020304" pitchFamily="18" charset="0"/>
                <a:ea typeface="Calibri" panose="020F0502020204030204" pitchFamily="34" charset="0"/>
                <a:cs typeface="Times New Roman" panose="02020603050405020304" pitchFamily="18" charset="0"/>
              </a:rPr>
              <a:t>/</a:t>
            </a:r>
            <a:r>
              <a:rPr lang="en-IN" dirty="0" err="1">
                <a:latin typeface="Times New Roman" panose="02020603050405020304" pitchFamily="18" charset="0"/>
                <a:ea typeface="Calibri" panose="020F0502020204030204" pitchFamily="34" charset="0"/>
                <a:cs typeface="Times New Roman" panose="02020603050405020304" pitchFamily="18" charset="0"/>
              </a:rPr>
              <a:t>BigDataSE</a:t>
            </a:r>
            <a:r>
              <a:rPr lang="en-IN" dirty="0">
                <a:latin typeface="Times New Roman" panose="02020603050405020304" pitchFamily="18" charset="0"/>
                <a:ea typeface="Calibri" panose="020F0502020204030204" pitchFamily="34" charset="0"/>
                <a:cs typeface="Times New Roman" panose="02020603050405020304" pitchFamily="18" charset="0"/>
              </a:rPr>
              <a:t>), 2018, pp. 1579-1583.</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600" dirty="0">
                <a:latin typeface="Calibri" panose="020F0502020204030204" pitchFamily="34" charset="0"/>
                <a:ea typeface="Calibri" panose="020F0502020204030204" pitchFamily="34"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Slic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3423</TotalTime>
  <Words>4916</Words>
  <Application>Microsoft Office PowerPoint</Application>
  <PresentationFormat>Widescreen</PresentationFormat>
  <Paragraphs>264</Paragraphs>
  <Slides>66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66</vt:i4>
      </vt:variant>
    </vt:vector>
  </HeadingPairs>
  <TitlesOfParts>
    <vt:vector size="73" baseType="lpstr">
      <vt:lpstr>Arial</vt:lpstr>
      <vt:lpstr>Calibri</vt:lpstr>
      <vt:lpstr>Century Gothic</vt:lpstr>
      <vt:lpstr>Times New Roman</vt:lpstr>
      <vt:lpstr>Wingdings</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PREETHI DESAI</dc:creator>
  <cp:lastModifiedBy>Preeti</cp:lastModifiedBy>
  <cp:revision>203</cp:revision>
  <dcterms:created xsi:type="dcterms:W3CDTF">2022-11-19T11:35:00Z</dcterms:created>
  <dcterms:modified xsi:type="dcterms:W3CDTF">2024-08-26T05:14:01Z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A1EC5F6991B543508BE3500887CC9BF4</vt:lpwstr>
  </property>
  <property fmtid="{D5CDD505-2E9C-101B-9397-08002B2CF9AE}" pid="3" name="KSOProductBuildVer">
    <vt:lpwstr>1033-11.2.0.11417</vt:lpwstr>
  </property>
</Properties>
</file>